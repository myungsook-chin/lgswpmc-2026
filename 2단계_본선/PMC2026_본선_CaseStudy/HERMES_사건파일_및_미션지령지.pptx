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604F50-0DBE-721C-A855-0FA5573C9D2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24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58A8A"/>
                </a:solidFill>
                <a:latin typeface="맑은 고딕"/>
              </a:rPr>
              <a:t>LG SW PM Competition 2026 · 본선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사건파일 HERMES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C9D3E8"/>
                </a:solidFill>
                <a:latin typeface="맑은 고딕"/>
              </a:rPr>
              <a:t>사건번호 PMB-2026-0827  ·  PM 보호국  ·  LGE Internal Use Only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9D3E8"/>
                </a:solidFill>
                <a:latin typeface="맑은 고딕"/>
              </a:rPr>
              <a:t>배포 대상: 본선 진출 7개 팀 (팀당 3인)   ·   배포 시각: 본선 1일차 09:30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프롤로그 — 특명: HERMES 프로젝트의 데몬을 찾아라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01400" cy="52578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</a:rPr>
              <a:t>■  전화 한 통이 PM 보호국에 접수되었습니다. 제보자는 프로젝트를 살려달라고 했지만, </a:t>
            </a:r>
            <a:r>
              <a:rPr sz="1900" b="1">
                <a:solidFill>
                  <a:srgbClr val="222222"/>
                </a:solidFill>
                <a:latin typeface="맑은 고딕"/>
              </a:rPr>
              <a:t>무엇이 문제인지 설명하지 못했습니다.</a:t>
            </a:r>
          </a:p>
          <a:p>
            <a:pPr marL="0" indent="0"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</a:rPr>
              <a:t>■  우리가 확보한 것은 이 프로젝트의 모든 기록입니다 — 일정 준수, 예산 승인 범위 내, 자율주행 성공률 목표 초과, High 리스크 </a:t>
            </a:r>
            <a:r>
              <a:rPr sz="1900" b="1">
                <a:solidFill>
                  <a:srgbClr val="222222"/>
                </a:solidFill>
                <a:latin typeface="맑은 고딕"/>
              </a:rPr>
              <a:t>0건</a:t>
            </a:r>
            <a:r>
              <a:rPr sz="1900" b="0">
                <a:solidFill>
                  <a:srgbClr val="222222"/>
                </a:solidFill>
                <a:latin typeface="맑은 고딕"/>
              </a:rPr>
              <a:t>, 주간보고서 </a:t>
            </a:r>
            <a:r>
              <a:rPr sz="1900" b="1">
                <a:solidFill>
                  <a:srgbClr val="222222"/>
                </a:solidFill>
                <a:latin typeface="맑은 고딕"/>
              </a:rPr>
              <a:t>16주 연속 All Green</a:t>
            </a:r>
            <a:r>
              <a:rPr sz="1900" b="0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marL="0" indent="0"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</a:rPr>
              <a:t>■  그런데 제보자는 이렇게 말했습니다:</a:t>
            </a:r>
          </a:p>
          <a:p>
            <a:pPr marL="320040" indent="0">
              <a:spcAft>
                <a:spcPts val="400"/>
              </a:spcAft>
            </a:pPr>
            <a:r>
              <a:rPr sz="1750" b="0">
                <a:solidFill>
                  <a:srgbClr val="5A5A5A"/>
                </a:solidFill>
                <a:latin typeface="맑은 고딕"/>
              </a:rPr>
              <a:t>•  “모든 게 정상이라고 나오는데, 현장에서는 직원이 로봇을 밀고 다닙니다.”</a:t>
            </a:r>
          </a:p>
          <a:p>
            <a:pPr marL="0" indent="0"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</a:rPr>
              <a:t>■  감독관 여러분. 이 프로젝트에는 </a:t>
            </a:r>
            <a:r>
              <a:rPr sz="1900" b="1">
                <a:solidFill>
                  <a:srgbClr val="222222"/>
                </a:solidFill>
                <a:latin typeface="맑은 고딕"/>
              </a:rPr>
              <a:t>아직 발견되지 않은 데몬</a:t>
            </a:r>
            <a:r>
              <a:rPr sz="1900" b="0">
                <a:solidFill>
                  <a:srgbClr val="222222"/>
                </a:solidFill>
                <a:latin typeface="맑은 고딕"/>
              </a:rPr>
              <a:t>이 있습니다. 겉으로 드러난 현상이 아닌 본질을 찾으십시오.</a:t>
            </a:r>
          </a:p>
          <a:p>
            <a:pPr marL="0" indent="0"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</a:rPr>
              <a:t>■  </a:t>
            </a:r>
            <a:r>
              <a:rPr sz="1900" b="1">
                <a:solidFill>
                  <a:srgbClr val="222222"/>
                </a:solidFill>
                <a:latin typeface="맑은 고딕"/>
              </a:rPr>
              <a:t>이제 이 사건은 여러분에게 맡겨졌습니다.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1. 프로젝트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01400" cy="52578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■  2026년, 서비스 로봇 시장의 경쟁 축은 “로봇 한 대의 성능”에서 </a:t>
            </a:r>
            <a:r>
              <a:rPr sz="1800" b="1">
                <a:solidFill>
                  <a:srgbClr val="222222"/>
                </a:solidFill>
                <a:latin typeface="맑은 고딕"/>
              </a:rPr>
              <a:t>“로봇 수백 대를 어떻게 운영하는가”로 이동</a:t>
            </a:r>
            <a:r>
              <a:rPr sz="1800" b="0">
                <a:solidFill>
                  <a:srgbClr val="222222"/>
                </a:solidFill>
                <a:latin typeface="맑은 고딕"/>
              </a:rPr>
              <a:t>했습니다.</a:t>
            </a:r>
          </a:p>
          <a:p>
            <a:pPr marL="0" indent="0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■  고객사가 로봇을 사는 이유는 로봇이 아닙니다. </a:t>
            </a:r>
            <a:r>
              <a:rPr sz="1800" b="1">
                <a:solidFill>
                  <a:srgbClr val="222222"/>
                </a:solidFill>
                <a:latin typeface="맑은 고딕"/>
              </a:rPr>
              <a:t>사람이 하던 일을 로봇이 대신해서 인건비와 운영 부담이 줄어드는 것</a:t>
            </a:r>
            <a:r>
              <a:rPr sz="1800" b="0">
                <a:solidFill>
                  <a:srgbClr val="222222"/>
                </a:solidFill>
                <a:latin typeface="맑은 고딕"/>
              </a:rPr>
              <a:t>입니다. 시장의 승부는 하드웨어가 아니라 </a:t>
            </a:r>
            <a:r>
              <a:rPr sz="1800" b="1">
                <a:solidFill>
                  <a:srgbClr val="222222"/>
                </a:solidFill>
                <a:latin typeface="맑은 고딕"/>
              </a:rPr>
              <a:t>플릿(fleet)을 원격으로 관제·배포·최적화하는 소프트웨어</a:t>
            </a:r>
            <a:r>
              <a:rPr sz="1800" b="0">
                <a:solidFill>
                  <a:srgbClr val="222222"/>
                </a:solidFill>
                <a:latin typeface="맑은 고딕"/>
              </a:rPr>
              <a:t> — 이른바 *software-defined robotics* 에서 갈립니다.</a:t>
            </a:r>
          </a:p>
          <a:p>
            <a:pPr marL="0" indent="0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■  </a:t>
            </a:r>
            <a:r>
              <a:rPr sz="1800" b="1">
                <a:solidFill>
                  <a:srgbClr val="222222"/>
                </a:solidFill>
                <a:latin typeface="맑은 고딕"/>
              </a:rPr>
              <a:t>아르고전자(ARGO Electronics)</a:t>
            </a:r>
            <a:r>
              <a:rPr sz="1800" b="0">
                <a:solidFill>
                  <a:srgbClr val="222222"/>
                </a:solidFill>
                <a:latin typeface="맑은 고딕"/>
              </a:rPr>
              <a:t> — 연 매출 40조원 규모의 글로벌 가전·로봇 기업. 2026년 상반기 </a:t>
            </a:r>
            <a:r>
              <a:rPr sz="1800" b="1">
                <a:solidFill>
                  <a:srgbClr val="222222"/>
                </a:solidFill>
                <a:latin typeface="맑은 고딕"/>
              </a:rPr>
              <a:t>로보틱스사업센터</a:t>
            </a:r>
            <a:r>
              <a:rPr sz="1800" b="0">
                <a:solidFill>
                  <a:srgbClr val="222222"/>
                </a:solidFill>
                <a:latin typeface="맑은 고딕"/>
              </a:rPr>
              <a:t>를 CEO 직속으로 신설하고 2026년을 “로보틱스 기반 구축의 해”로 선언.</a:t>
            </a:r>
          </a:p>
          <a:p>
            <a:pPr marL="0" indent="0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■  사업은 세 축: 가정용(로보틱스사업센터) · 산업용(자회사) · </a:t>
            </a:r>
            <a:r>
              <a:rPr sz="1800" b="1">
                <a:solidFill>
                  <a:srgbClr val="222222"/>
                </a:solidFill>
                <a:latin typeface="맑은 고딕"/>
              </a:rPr>
              <a:t>상업용(미국 자회사 Bexar Robotics, 2025년 경영권 인수, 레드우드시티)</a:t>
            </a:r>
          </a:p>
          <a:p>
            <a:pPr marL="0" indent="0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■  그 첫 번째 전사 실행 과제가 </a:t>
            </a:r>
            <a:r>
              <a:rPr sz="1800" b="1">
                <a:solidFill>
                  <a:srgbClr val="222222"/>
                </a:solidFill>
                <a:latin typeface="맑은 고딕"/>
              </a:rPr>
              <a:t>HERMES</a:t>
            </a:r>
            <a:r>
              <a:rPr sz="1800" b="0">
                <a:solidFill>
                  <a:srgbClr val="222222"/>
                </a:solidFill>
                <a:latin typeface="맑은 고딕"/>
              </a:rPr>
              <a:t> 프로젝트입니다.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HERMES 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7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프로젝트명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HERMES — Fleet Orchestration Platform for Service Robots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상업용 서비스 로봇 6개 기종을 하나의 플랫폼에서 원격 관제·임무 배차·경로 최적화·OTA 배포·이상 감지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기간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2026-01-05 ~ 2026-09-30 (약 9개월)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총 예산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118억원 (개발 82억 / AI 인프라·시뮬레이션·추론 24억 / 외부 파트너 12억)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인원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96명 — 한국 서울 양재 58명, 미국 레드우드시티 22명, 인도 뱅갈로르 16명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운영 방식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2주 스프린트(S1~S18) + 마일스톤 게이트(G1~G5) 병행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지원 기종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서빙봇, 배송봇, 청소봇, 안내봇, 물류 카트봇, 방역봇 (6종)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상용 배포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2026-09-30 한국·미국·인도 3개 리전 동시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현재 시점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2026-08-24(월) — 상용 배포 D-37, 스프린트 S17 진행 중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외부 파트너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142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0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파트너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계약 형태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Helion Robotics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자율주행 스택 — SLAM·내비게이션 SDK, 맵·커맨드 스키마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수의계약 (스폰서 추천)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Cordis Motion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액추에이터·모터 드라이버 SDK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경쟁입찰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Business Case가 약속한 것 (2025-12-18 승인)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2822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4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8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4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4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편익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KPI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Baseline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Target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BEN-01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고객 사업장 계약 유지율 개선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12개월 계약 유지율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31%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45%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BEN-02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현장 출동 정비(A/S) 절감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출동 건수/로봇 1천대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42건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29건 (-30%)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BEN-03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플릿 관제 구독(RaaS) 전환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유료 구독 전환율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0%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8%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BEN-04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플릿 데이터 기반 신규 매출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연 매출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0원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120억원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BEN-05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로봇 SW 릴리스 생산성 향상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OTA 릴리스 리드타임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21일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12일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20624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이 5개 편익이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118억원 투자를 정당화한 근거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입니다.  참조: `02_benefit_register.csv` — 이 편익들이 지금 어떤 상태인지 직접 확인하십시오.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2. 등장 인물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3744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4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2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이름 / 소속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책임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서지환 (로보틱스사업센터장 전무, 스폰서)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프로젝트 스폰서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전사 후원, 예산 승인, 최종 에스컬레이션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한도경 (PM, SW PMO)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프로젝트 매니저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일정·범위·리스크 통합 관리, 게이트 운영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노유진 (PO, 서비스기획)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제품 책임자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요구사항 우선순위, 서비스 가치 정의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임태오 (자율주행/AI 플랫폼 리드)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자율주행 리드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주행 정책·시뮬레이션·추론, AI 인프라 운용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배가온 (로봇SW·관제UX 리드)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로봇SW 리드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6기종 제어 연동, 플릿 관제 콘솔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정하람 (클라우드 플랫폼 리드)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플랫폼 리드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관제 API·성능·CI/CD·OTA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문세아 (QA Lead)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품질 리드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테스트 전략, 안전 검증, 품질 게이트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2. 등장 인물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3284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4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2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이름 / 소속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책임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오시윤 (Data/Fleet Analytics Lead)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데이터 리드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플릿 텔레메트리, 가동률 지표, 파일럿 분석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윤채원 (안전/보안·법무)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안전·규제 담당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ISO 13482 안전 인증, EU 기계류규정·AI Act, 영상 개인정보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남기웅 (구매/벤더 매니저)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외부 협력 담당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계약·SLA, 파트너 커뮤니케이션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Daniel Suh (미국 레드우드시티, Bexar Robotics)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상업용 로봇 개발 리드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미국 리전 개발, 현장 배치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Ananya Rao (인도 뱅갈로르)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인도 개발 리드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인도 리전 개발, QA 자동화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3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Ethan Reid (Helion Robotics)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파트너 계정 담당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자율주행 스택 로드맵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66344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사람이 아닌 참여자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 — 이 프로젝트에서 실제로 코드를 쓰는 쪽입니다. (다음 슬라이드 참조)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사람이 아닌 참여자 — AI 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2822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6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에이전트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권한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agent/codegen-3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스펙 → 코드 생성, PR 작성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리포지토리 쓰기, 브랜치 생성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agent/reviewer-2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1차 코드 리뷰, LGTM 판정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PR 승인 의견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agent/reporter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주간 상태보고 자동 생성·발송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전사 배포 목록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agent/standup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비동기 스탠드업 요약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팀 채널 게시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agent/pm-assistant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PM 질의 응답, 지표 조회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대시보드·Jira 읽기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3. 프로젝트 범위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01400" cy="52578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50" b="1">
                <a:solidFill>
                  <a:srgbClr val="1F2A44"/>
                </a:solidFill>
                <a:latin typeface="맑은 고딕"/>
              </a:rPr>
              <a:t>포함 (In Scope)</a:t>
            </a:r>
          </a:p>
          <a:p>
            <a:pPr marL="320040" indent="0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맑은 고딕"/>
              </a:rPr>
              <a:t>•  자율주행/내비게이션 — SLAM 지도 생성, 동적 장애물 회피, </a:t>
            </a:r>
            <a:r>
              <a:rPr sz="1400" b="1">
                <a:solidFill>
                  <a:srgbClr val="5A5A5A"/>
                </a:solidFill>
                <a:latin typeface="맑은 고딕"/>
              </a:rPr>
              <a:t>미학습 상황 안전정지·폴백</a:t>
            </a:r>
            <a:r>
              <a:rPr sz="1400" b="0">
                <a:solidFill>
                  <a:srgbClr val="5A5A5A"/>
                </a:solidFill>
                <a:latin typeface="맑은 고딕"/>
              </a:rPr>
              <a:t>, 다층 이동(엘리베이터 연동)</a:t>
            </a:r>
          </a:p>
          <a:p>
            <a:pPr marL="320040" indent="0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맑은 고딕"/>
              </a:rPr>
              <a:t>•  로봇 기종 제어 연동 — 6기종, 펌웨어 버전별 커맨드 매핑, 구동계 상태 진단</a:t>
            </a:r>
          </a:p>
          <a:p>
            <a:pPr marL="320040" indent="0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맑은 고딕"/>
              </a:rPr>
              <a:t>•  임무 스케줄링/경로 최적화 — 다중 로봇 경로 조정, 피크타임 배차, 임무 실패 자동 재배정</a:t>
            </a:r>
          </a:p>
          <a:p>
            <a:pPr marL="320040" indent="0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맑은 고딕"/>
              </a:rPr>
              <a:t>•  플릿 관제 콘솔 UX — 실시간 지도 뷰, 원격 조작(Teleop), 권한·역할 관리</a:t>
            </a:r>
          </a:p>
          <a:p>
            <a:pPr marL="320040" indent="0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맑은 고딕"/>
              </a:rPr>
              <a:t>•  데이터/플릿 텔레메트리 — 주행·임무 로그, 가동률 집계, A/B 실험 프레임</a:t>
            </a:r>
          </a:p>
          <a:p>
            <a:pPr marL="320040" indent="0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맑은 고딕"/>
              </a:rPr>
              <a:t>•  안전/보안/컴플라이언스 — 비상정지 회로, 주행 영상 국외이전, 인물 마스킹, ISO 13482 문서</a:t>
            </a:r>
          </a:p>
          <a:p>
            <a:pPr marL="320040" indent="0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맑은 고딕"/>
              </a:rPr>
              <a:t>•  인프라/OTA/MLOps — 모델 서빙, 주행 정책 버전 관리, 엣지 추론 캐시, 모델 티어 라우팅, OTA 단계적 배포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50" b="1">
                <a:solidFill>
                  <a:srgbClr val="1F2A44"/>
                </a:solidFill>
                <a:latin typeface="맑은 고딕"/>
              </a:rPr>
              <a:t>제외 (Out of Scope)</a:t>
            </a:r>
          </a:p>
          <a:p>
            <a:pPr marL="320040" indent="0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맑은 고딕"/>
              </a:rPr>
              <a:t>•  로봇 하드웨어 신규 개발, 액추에이터 자체 개발, 실외 자율주행 인증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50" b="1">
                <a:solidFill>
                  <a:srgbClr val="1F2A44"/>
                </a:solidFill>
                <a:latin typeface="맑은 고딕"/>
              </a:rPr>
              <a:t>의존 요소 (Dependency)</a:t>
            </a:r>
          </a:p>
          <a:p>
            <a:pPr marL="320040" indent="0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맑은 고딕"/>
              </a:rPr>
              <a:t>•  Helion Robotics 자율주행 스택 및 버전 로드맵 (</a:t>
            </a:r>
            <a:r>
              <a:rPr sz="1400" b="1">
                <a:solidFill>
                  <a:srgbClr val="5A5A5A"/>
                </a:solidFill>
                <a:latin typeface="맑은 고딕"/>
              </a:rPr>
              <a:t>대체 공급사 없음</a:t>
            </a:r>
            <a:r>
              <a:rPr sz="1400" b="0">
                <a:solidFill>
                  <a:srgbClr val="5A5A5A"/>
                </a:solidFill>
                <a:latin typeface="맑은 고딕"/>
              </a:rPr>
              <a:t>)</a:t>
            </a:r>
          </a:p>
          <a:p>
            <a:pPr marL="320040" indent="0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맑은 고딕"/>
              </a:rPr>
              <a:t>•  Cordis Motion 액추에이터 SDK / 각 기종 사업부의 펌웨어 릴리스 일정 / 안전 인증기관 심사 및 법무실 규제 검토(EU 포함)</a:t>
            </a:r>
          </a:p>
          <a:p>
            <a:pPr marL="640080" indent="0">
              <a:spcAft>
                <a:spcPts val="400"/>
              </a:spcAft>
            </a:pPr>
            <a:r>
              <a:rPr sz="1250" b="0">
                <a:solidFill>
                  <a:srgbClr val="5A5A5A"/>
                </a:solidFill>
                <a:latin typeface="맑은 고딕"/>
              </a:rPr>
              <a:t>–  참조: `03_requirements.csv` — 요구사항 84건 baseline 전체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4. 프로젝트 성공 기준 (헌장, 2026-01-05 승인)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397" cy="420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3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49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99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16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성공기준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목표값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2026-08-21 실적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SC-01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요구사항 구현 완료율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100% (84건)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92.9% (78/84)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SC-02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관제 명령 응답시간 p95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≤ 1.5s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1.28s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SC-03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자율주행 임무 성공률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≥ 92%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93.4%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SC-04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CI 빌드 성공률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≥ 85%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89.0%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SC-05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G5 시점 High 리스크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SC-06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SPI (일정성과지수)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≥ 0.95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1.02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SC-07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CPI (원가성과지수)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≥ 0.95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0.98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SC-08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지원 로봇 기종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6종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6종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57784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전 항목 GREEN.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 참조 `01_charter_success_criteria.csv`</a:t>
            </a:r>
          </a:p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이 표를 보고 “정상적인 프로젝트”라고 판단하셨다면,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그것이 바로 이 사건의 시작점입니다.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5. 마일스톤 및 진행 경과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2822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4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6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게이트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계획일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실적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G1 Scope Freeze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요구사항 84건 baseline 확정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2026-01-19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2026-01-19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정시 통과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G2 Design/Safety Freeze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아키텍처·안전 설계 승인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2026-03-20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2026-03-20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정시 통과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G3 Alpha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핵심 기능 First Complete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2026-05-29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2026-05-29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조건부 통과 (조건 3건)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G4 Pilot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파일럿 사업장 배치 개시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2026-07-10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2026-07-10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정시 통과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G5 상용 배포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3개 리전 동시 상용 배포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2026-09-30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예정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20624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G3 조건부 통과 시 명시된 조건 3건: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 ① 엣지 추론 캐시 레이어 도입  ② 미학습 상황 폴백(안전정지) 처리 방침 확정  ③ AI 인프라 예산 재검토</a:t>
            </a:r>
          </a:p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이 조건들의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해소 여부를 추적한 기록은 어디에도 없습니다.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 참조 `15_governance_log.csv`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간트 (요약)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400" cy="5245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8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81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12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812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081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작업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요구사항/설계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자율주행/내비게이션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로봇 기종 제어 연동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임무 스케줄링/최적화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플릿 관제 콘솔 UX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데이터/플릿 텔레메트리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안전/보안/컴플라이언스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⋯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⋯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⋯(Blocked)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인프라/OTA/MLOps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파일럿 (24개사업장·120대)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안정화/상용 배포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게이트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▲G1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▲G2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▲G3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▲G4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◀현재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▲G5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6. 파일럿 운영 결과 (2026-07-13 ~ 08-21, 6주)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01400" cy="52578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■  G4 통과 후, </a:t>
            </a:r>
            <a:r>
              <a:rPr sz="1800" b="1">
                <a:solidFill>
                  <a:srgbClr val="222222"/>
                </a:solidFill>
                <a:latin typeface="맑은 고딕"/>
              </a:rPr>
              <a:t>고객 사업장 24곳에 로봇 120대</a:t>
            </a:r>
            <a:r>
              <a:rPr sz="1800" b="0">
                <a:solidFill>
                  <a:srgbClr val="222222"/>
                </a:solidFill>
                <a:latin typeface="맑은 고딕"/>
              </a:rPr>
              <a:t>를 배치해 6주간 파일럿을 운영했습니다.</a:t>
            </a:r>
          </a:p>
          <a:p>
            <a:pPr marL="0" indent="0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■  사업장 구성: 식음료 매장 11곳, 물류 창고 5곳, 병원·요양시설 4곳, 오피스 로비 4곳</a:t>
            </a:r>
          </a:p>
          <a:p>
            <a:pPr marL="0" indent="0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■  참조: `09_telemetry_pilot.csv`(주차별 전체 지표), `10_navigation_eval_vs_field.csv`(테스트베드 성공률 vs 실사업장 로그)</a:t>
            </a:r>
          </a:p>
          <a:p>
            <a:pPr marL="0" indent="0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■  이 데이터는 매주 금요일 </a:t>
            </a:r>
            <a:r>
              <a:rPr sz="1800" b="1">
                <a:solidFill>
                  <a:srgbClr val="222222"/>
                </a:solidFill>
                <a:latin typeface="맑은 고딕"/>
              </a:rPr>
              <a:t>오시윤(Data Lead)</a:t>
            </a:r>
            <a:r>
              <a:rPr sz="1800" b="0">
                <a:solidFill>
                  <a:srgbClr val="222222"/>
                </a:solidFill>
                <a:latin typeface="맑은 고딕"/>
              </a:rPr>
              <a:t> 이 작성해 배포했습니다.</a:t>
            </a:r>
          </a:p>
          <a:p>
            <a:pPr marL="0" indent="0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■  참조: `16_org_raci.csv` — </a:t>
            </a:r>
            <a:r>
              <a:rPr sz="1800" b="1">
                <a:solidFill>
                  <a:srgbClr val="222222"/>
                </a:solidFill>
                <a:latin typeface="맑은 고딕"/>
              </a:rPr>
              <a:t>배포 대상을 확인하십시오.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7. 사건 재구성 — 2026-08-21 (금)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01400" cy="52578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</a:rPr>
              <a:t>■  이 팀에서는 </a:t>
            </a:r>
            <a:r>
              <a:rPr sz="2000" b="1">
                <a:solidFill>
                  <a:srgbClr val="222222"/>
                </a:solidFill>
                <a:latin typeface="맑은 고딕"/>
              </a:rPr>
              <a:t>사람이 코드를 거의 쓰지 않습니다.</a:t>
            </a:r>
          </a:p>
          <a:p>
            <a:pPr marL="0" indent="0"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</a:rPr>
              <a:t>■  PM 보호국은 한도경 PM의 하루를 인터뷰가 아니라 </a:t>
            </a:r>
            <a:r>
              <a:rPr sz="2000" b="1">
                <a:solidFill>
                  <a:srgbClr val="222222"/>
                </a:solidFill>
                <a:latin typeface="맑은 고딕"/>
              </a:rPr>
              <a:t>시스템 기록으로</a:t>
            </a:r>
            <a:r>
              <a:rPr sz="2000" b="0">
                <a:solidFill>
                  <a:srgbClr val="222222"/>
                </a:solidFill>
                <a:latin typeface="맑은 고딕"/>
              </a:rPr>
              <a:t> 재구성했습니다: 쿼터 로그, 스탠드업 게시물, 에이전트 세션, PR 이력, 의사결정 티켓, 회고 보드, 노트북 출력.</a:t>
            </a:r>
          </a:p>
          <a:p>
            <a:pPr marL="0" indent="0"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</a:rPr>
              <a:t>■  </a:t>
            </a:r>
            <a:r>
              <a:rPr sz="2000" b="1">
                <a:solidFill>
                  <a:srgbClr val="222222"/>
                </a:solidFill>
                <a:latin typeface="맑은 고딕"/>
              </a:rPr>
              <a:t>이 팀이 남긴 기록은 사람의 말보다 정확합니다. 그리고 더 많은 것을 말합니다.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7-0. 이 프로젝트가 일하는 방식 (2026년 기준)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§7-0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420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코드 생성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AI 에이전트가 스펙을 받아 구현. 사람이 직접 작성한 코드 비율 </a:t>
                      </a:r>
                      <a:r>
                        <a:rPr sz="1300" b="1">
                          <a:solidFill>
                            <a:srgbClr val="222222"/>
                          </a:solidFill>
                          <a:latin typeface="맑은 고딕"/>
                        </a:rPr>
                        <a:t>8%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코드 리뷰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1차 agent/reviewer-2 자동 리뷰 → 2차 사람 승인. 사람 승인 소요 중위값 </a:t>
                      </a:r>
                      <a:r>
                        <a:rPr sz="1300" b="1">
                          <a:solidFill>
                            <a:srgbClr val="222222"/>
                          </a:solidFill>
                          <a:latin typeface="맑은 고딕"/>
                        </a:rPr>
                        <a:t>4분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스탠드업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대면 폐지. 비동기 텍스트 게시 + agent/standup 요약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회의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주 2회로 제한. 그 외는 비동기 음성 메모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스펙 전달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  <a:latin typeface="맑은 고딕"/>
                        </a:rPr>
                        <a:t>에이전트 프롬프트로 구두 수준 전달.</a:t>
                      </a:r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 문서화는 사후(하는 경우에만)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검증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eval 스위트 자동 실행 + 실기 검증. </a:t>
                      </a:r>
                      <a:r>
                        <a:rPr sz="1300" b="1">
                          <a:solidFill>
                            <a:srgbClr val="222222"/>
                          </a:solidFill>
                          <a:latin typeface="맑은 고딕"/>
                        </a:rPr>
                        <a:t>실기 검증은 DoD v2에서 Done 조건에서 제외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AI 예산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  <a:latin typeface="맑은 고딕"/>
                        </a:rPr>
                        <a:t>단일 풀.</a:t>
                      </a:r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 개발 에이전트·자동보고·현장 원격 인식 추론·문서 초안이 같은 예산을 나눠 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3리전 협업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비동기 우선. 한국–미국 업무시간 겹침 </a:t>
                      </a:r>
                      <a:r>
                        <a:rPr sz="1300" b="1">
                          <a:solidFill>
                            <a:srgbClr val="222222"/>
                          </a:solidFill>
                          <a:latin typeface="맑은 고딕"/>
                        </a:rPr>
                        <a:t>1시간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57784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참조: `07_ai_infra_cost.csv` — 예산 풀의 용도별 배분과 주간 쿼터 소진율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7-1. 07:40 · 주간 AI 쿼터 경보 (자동 발송)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§7-1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3284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AI BUDGET ALERT · W33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주간 개발 에이전트 쿼터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66.0 (백만원 상당)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현재 소진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54.5 — 82.6%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누적 집행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21.4억 / 예산 24억 (89.2%)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쿼터 배분 정책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개발 우선 (5주 연속)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자동 조치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풀 여유 확보를 위해 현장 원격 인식 추론 샘플링 비율 하향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승인 필요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아니오 (정책에 따라 자동 적용)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66344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이 자동 조치가 무엇을 했는지 확인하십시오.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 개발 속도를 지키기 위해 줄인 것은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로봇이 현장에서 무엇을 만났는지 보는 눈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입니다.</a:t>
            </a:r>
          </a:p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참조 `07_ai_infra_cost.csv` — 누적 배분: 개발 에이전트 40.6% / 자동보고·회귀시뮬 27.4% /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현장 추론 22.7%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 / 문서초안 9.3%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7-2. 09:12 · 비동기 스탠드업 — AI 요약과 원문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01400" cy="52578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F2A44"/>
                </a:solidFill>
                <a:latin typeface="맑은 고딕"/>
              </a:rPr>
              <a:t>`agent/standup` 이 생성해 팀 채널에 게시한 요약 (한도경 읽음 ✔ 09:14)</a:t>
            </a:r>
          </a:p>
          <a:p>
            <a:pPr marL="320040" indent="0">
              <a:spcAft>
                <a:spcPts val="400"/>
              </a:spcAft>
            </a:pPr>
            <a:r>
              <a:rPr sz="1250" b="0">
                <a:solidFill>
                  <a:srgbClr val="5A5A5A"/>
                </a:solidFill>
                <a:latin typeface="맑은 고딕"/>
              </a:rPr>
              <a:t>•  “잔여 요구사항 6건 중 4건 S17 내 완료 예정. 차단 이슈 없음. 파일럿 24개 사업장 정상 운영 중. CI 89%. 특이사항 없음. 오늘 집중 항목: 잔여 범위 마감.”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F2A44"/>
                </a:solidFill>
                <a:latin typeface="맑은 고딕"/>
              </a:rPr>
              <a:t>같은 시각 팀원들이 실제로 올린 원문 (한도경 읽음 표시 없음)</a:t>
            </a:r>
          </a:p>
          <a:p>
            <a:pPr marL="320040" indent="0">
              <a:spcAft>
                <a:spcPts val="400"/>
              </a:spcAft>
            </a:pPr>
            <a:r>
              <a:rPr sz="1250" b="0">
                <a:solidFill>
                  <a:srgbClr val="5A5A5A"/>
                </a:solidFill>
                <a:latin typeface="맑은 고딕"/>
              </a:rPr>
              <a:t>•  오시윤(Data): “파일럿 6주차 나왔습니다. </a:t>
            </a:r>
            <a:r>
              <a:rPr sz="1250" b="1">
                <a:solidFill>
                  <a:srgbClr val="5A5A5A"/>
                </a:solidFill>
                <a:latin typeface="맑은 고딕"/>
              </a:rPr>
              <a:t>무개입 완주율 6.1%.</a:t>
            </a:r>
            <a:r>
              <a:rPr sz="1250" b="0">
                <a:solidFill>
                  <a:srgbClr val="5A5A5A"/>
                </a:solidFill>
                <a:latin typeface="맑은 고딕"/>
              </a:rPr>
              <a:t> 1주차 18.4%에서 6주 연속 하락입니다. 2주 연속 자율모드로 돌린 사업장은 1.8%. 이거 좀 봐주셔야 합니다.”</a:t>
            </a:r>
          </a:p>
          <a:p>
            <a:pPr marL="320040" indent="0">
              <a:spcAft>
                <a:spcPts val="400"/>
              </a:spcAft>
            </a:pPr>
            <a:r>
              <a:rPr sz="1250" b="0">
                <a:solidFill>
                  <a:srgbClr val="5A5A5A"/>
                </a:solidFill>
                <a:latin typeface="맑은 고딕"/>
              </a:rPr>
              <a:t>•  정하람(플랫폼): “엣지 추론 캐시 아직 미착수. G3 조건이었습니다. 어디에 기록됐는지 못 찾았습니다.”</a:t>
            </a:r>
          </a:p>
          <a:p>
            <a:pPr marL="320040" indent="0">
              <a:spcAft>
                <a:spcPts val="400"/>
              </a:spcAft>
            </a:pPr>
            <a:r>
              <a:rPr sz="1250" b="0">
                <a:solidFill>
                  <a:srgbClr val="5A5A5A"/>
                </a:solidFill>
                <a:latin typeface="맑은 고딕"/>
              </a:rPr>
              <a:t>•  문세아(QA): “Done 처리된 이슈 중 QA 검증 칸이 빈 게 다수입니다. </a:t>
            </a:r>
            <a:r>
              <a:rPr sz="1250" b="1">
                <a:solidFill>
                  <a:srgbClr val="5A5A5A"/>
                </a:solidFill>
                <a:latin typeface="맑은 고딕"/>
              </a:rPr>
              <a:t>미학습 상황 안전정지 관련 항목도 포함</a:t>
            </a:r>
            <a:r>
              <a:rPr sz="1250" b="0">
                <a:solidFill>
                  <a:srgbClr val="5A5A5A"/>
                </a:solidFill>
                <a:latin typeface="맑은 고딕"/>
              </a:rPr>
              <a:t>입니다.”</a:t>
            </a:r>
          </a:p>
          <a:p>
            <a:pPr marL="320040" indent="0">
              <a:spcAft>
                <a:spcPts val="400"/>
              </a:spcAft>
            </a:pPr>
            <a:r>
              <a:rPr sz="1250" b="0">
                <a:solidFill>
                  <a:srgbClr val="5A5A5A"/>
                </a:solidFill>
                <a:latin typeface="맑은 고딕"/>
              </a:rPr>
              <a:t>•  배가온(로봇SW): “펌웨어 버전별 커맨드 매핑 Blocked 유지. Helion v3 스키마에 묶여 있습니다.”</a:t>
            </a:r>
          </a:p>
          <a:p>
            <a:pPr marL="320040" indent="0">
              <a:spcAft>
                <a:spcPts val="400"/>
              </a:spcAft>
            </a:pPr>
            <a:r>
              <a:rPr sz="1250" b="0">
                <a:solidFill>
                  <a:srgbClr val="5A5A5A"/>
                </a:solidFill>
                <a:latin typeface="맑은 고딕"/>
              </a:rPr>
              <a:t>•  Daniel Suh(US): “Fallback 방침 회신 아직 못 받았습니다. 이번 주가 3주째입니다.”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1F2A44"/>
                </a:solidFill>
                <a:latin typeface="맑은 고딕"/>
              </a:rPr>
              <a:t>요약에는 위 다섯 건 중 아무것도 들어가지 않았습니다. agent/standup은 “차단 이슈(Blocker) 태그”가 붙은 항목만 요약. 팀원들은 태그를 달지 않았습니다 — 차단은 아니었으니까요.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7-3. 10:30 · 바이브 코딩 세션 — 한도경 PM 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201400" cy="64008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</a:rPr>
              <a:t>■  한도경은 잔여 6건 중 1건을 직접 처리했습니다. 에이전트에게 맡기면 오전에 끝나기 때문입니다.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201400" cy="4754880"/>
          </a:xfrm>
          <a:prstGeom prst="roundRect">
            <a:avLst/>
          </a:prstGeom>
          <a:solidFill>
            <a:srgbClr val="24282E"/>
          </a:solidFill>
          <a:ln>
            <a:solidFill>
              <a:srgbClr val="40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182880" bIns="137160" rtlCol="0" anchor="ctr"/>
          <a:lstStyle/>
          <a:p>
            <a:pPr algn="ctr"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session: hrm-pm-2026-0821-1030   user: 한도경   agent: codegen-3</a:t>
            </a:r>
          </a:p>
          <a:p>
            <a:pPr>
              <a:spcAft>
                <a:spcPts val="300"/>
              </a:spcAft>
            </a:pPr>
            <a:endParaRPr sz="1350">
              <a:solidFill>
                <a:srgbClr val="DDE3EA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한도경 ▸ 관제 대시보드 첫 화면에 요약 위젯 하나 넣어주세요.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         전무님이 이사회 데모에서 이 화면 쓰신다고 합니다.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codegen-3 ▸ 위젯에 표시할 지표를 확정해 주세요. 조회 가능한 지표: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            (1)요구사항완료율 (2)SPI (3)CPI (4)CI성공률 (5)OpenHighRisk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            (6)파일럿무개입완주율 (7)임무완료율 (8)미학습상황조우율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한도경 ▸ 1, 2, 3, 4, 5 넣어주세요. 초록불로 보이게.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codegen-3 ▸ 확인했습니다. (6)(7)(8)은 제외합니다.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            브랜치 feat/dashboard-summary-widget 생성, 구현 시작합니다.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[11:04] codegen-3 ▸ 구현 완료. PR #2870 생성. 변경 6파일(+412/-18).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                    eval 스위트 통과. 토큰 소모 4.1(백만원 상당).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한도경 ▸ 좋습니다. 머지해주세요.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7-3. 이 세션에서 벌어진 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§7-3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1892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관찰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범위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이 요구사항은 </a:t>
                      </a:r>
                      <a:r>
                        <a:rPr sz="1600" b="1">
                          <a:solidFill>
                            <a:srgbClr val="222222"/>
                          </a:solidFill>
                          <a:latin typeface="맑은 고딕"/>
                        </a:rPr>
                        <a:t>baseline 84건에 없습니다.</a:t>
                      </a:r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 8/6 스티어링 구두 지시로 착수, CR 미등록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기록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위젯의 스펙은 </a:t>
                      </a:r>
                      <a:r>
                        <a:rPr sz="1600" b="1">
                          <a:solidFill>
                            <a:srgbClr val="222222"/>
                          </a:solidFill>
                          <a:latin typeface="맑은 고딕"/>
                        </a:rPr>
                        <a:t>이 프롬프트에만 존재합니다.</a:t>
                      </a:r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 Confluence·Jira에 기록 없음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판단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에이전트는 (6)(7)(8)을 </a:t>
                      </a:r>
                      <a:r>
                        <a:rPr sz="1600" b="1">
                          <a:solidFill>
                            <a:srgbClr val="222222"/>
                          </a:solidFill>
                          <a:latin typeface="맑은 고딕"/>
                        </a:rPr>
                        <a:t>먼저 제안했습니다.</a:t>
                      </a:r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 제외한 것은 사람입니다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29184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참조: `05_change_requests.csv` · `04_jira_issues.csv` (req_id가 REQ-NEW-* 인 항목)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7-4. 11:50 · PR #2871 — 이 코드를 검토한 사람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§7-4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5122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3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PR #2871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제목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feat(nav): unmapped-situation safe-stop fallback (KR)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작성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agent/codegen-3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변경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14 파일 · +1,842 / −196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1차 리뷰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agent/reviewer-2 → LGTM (소요 41초)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eval 스위트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✅ 통과 — 양재 테스트베드 120개 시나리오 기준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미학습 상황 케이스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eval 스위트에 </a:t>
                      </a: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</a:rPr>
                        <a:t>미포함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실기 검증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— (DoD v2 기준 Done 조건 아님)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사람 승인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한도경 · 소요 </a:t>
                      </a: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</a:rPr>
                        <a:t>3분 12초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적용 리전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</a:rPr>
                        <a:t>KR only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383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타 리전 충돌 경고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</a:rPr>
                        <a:t>없음 (리전 간 동작 비교 검사 미구현)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4652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로봇이 모르는 상황을 만났을 때 어떻게 멈추는지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를 정하는 코드입니다. 사람이 본 시간은 3분 12초. 미국 리전에는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다른 동작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이 이미 들어가 있습니다.</a:t>
            </a:r>
          </a:p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참조 `12_decision_log_3regions.csv` DEC-07 · `18_email_threads.md` E-03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7-5. 13:20 · 의사결정 티켓 DR-114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§7-5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3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DR-114 · AI 예산 쿼터 재배분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제기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agent/reporter (자동)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상황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개발 에이전트 쿼터 82.6% 소진, 누적 21.4억/24억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선택지 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현장 원격 인식 추론 샘플링 유지 → 개발 쿼터 축소 → 잔여 6건 중 3건 S18 이월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선택지 B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개발 우선 유지 → 현장 원격 인식 추론 샘플링 30% → 12% 하향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결정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  <a:latin typeface="맑은 고딕"/>
                        </a:rPr>
                        <a:t>B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결정자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한도경 (PM)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결정 근거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“9/30 상용 배포 확약. 완료율 100%로 G5 진입 필요.”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영향 평가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  <a:latin typeface="맑은 고딕"/>
                        </a:rPr>
                        <a:t>(공란)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CR 등록 / 리전 공유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아니오 / 아니오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03504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이 결정으로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미학습 상황 데이터 수집량이 60% 이상 줄어듭니다.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 문제를 볼 수 있는 유일한 창구를 줄여서 완료율을 지켰고, 그 판단의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영향 평가란은 비어 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7-6. 15:05 · 스프린트16 회고보드 (AI 클러스터링, 익명 41건)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§7-6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3284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8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군집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건수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대표 코멘트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11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“우리가 만든 게 현장에서 실제로 쓰이는지 아무도 모른다”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“무엇이 결정됐는지 찾을 수가 없다. 프롬프트에만 있는 결정이 너무 많다”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“에이전트가 짠 코드를 사람이 진짜로 보고 있는지 의문이다”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“쿼터 때문에 돌려보고 싶은 검증을 못 돌린다”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“전부 초록불이라는 보고서를 믿기 어렵다”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(기타 — 장비·좌석 등)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66344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`agent/pm-assistant` 한 줄 요약: “팀 사기 양호. 프로세스 개선 의견 다수. 조치 필요 항목 없음.”</a:t>
            </a:r>
          </a:p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이 회고 보드는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스티어링 커미티에 보고되지 않았습니다.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 참조 `15_governance_log.csv`(8차 스티어링 8/6 아젠다)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7-7. 17:40 · 데이터팀 노트북 — 셀 출력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§7-7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11201400" cy="5120640"/>
          </a:xfrm>
          <a:prstGeom prst="roundRect">
            <a:avLst/>
          </a:prstGeom>
          <a:solidFill>
            <a:srgbClr val="24282E"/>
          </a:solidFill>
          <a:ln>
            <a:solidFill>
              <a:srgbClr val="40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182880" bIns="137160" rtlCol="0" anchor="ctr"/>
          <a:lstStyle/>
          <a:p>
            <a:pPr algn="ctr"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[13] pilot.groupby('week')[['무개입완주율','2주연속자율운영']].tail(6)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      week  무개입완주율  2주연속자율운영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      1     18.4         6.9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      2     11.2         4.2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      3      8.7         3.1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      4      7.3         2.4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      5      6.6         2.0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      6      6.1         1.8</a:t>
            </a:r>
          </a:p>
          <a:p>
            <a:pPr>
              <a:spcAft>
                <a:spcPts val="300"/>
              </a:spcAft>
            </a:pPr>
            <a:endParaRPr sz="1350">
              <a:solidFill>
                <a:srgbClr val="DDE3EA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[14] nav_eval_vs_field()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      양재 테스트베드 (120개 시나리오, 2,400구간)  → 성공률 93.4%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      실사업장 (24개 사업장, 18,700구간)          → 성공률 58.6%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      미학습 상황 조우 36.9% (6,900구간)</a:t>
            </a:r>
          </a:p>
          <a:p>
            <a:pPr>
              <a:spcAft>
                <a:spcPts val="300"/>
              </a:spcAft>
            </a:pPr>
            <a:endParaRPr sz="1350">
              <a:solidFill>
                <a:srgbClr val="DDE3EA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[15] benefit_register[benefit_register.최근실측값.isna()]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      BEN-01  BEN-02  BEN-03  BEN-04  BEN-05   ← 5건 전부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0"/>
            <a:ext cx="11201400" cy="9144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■  노트북 공유: 링크 생성 2026-07-20 · 배포 대상 리드 4명(PM·PO·스폰서 미포함) · </a:t>
            </a:r>
            <a:r>
              <a:rPr sz="1300" b="1">
                <a:solidFill>
                  <a:srgbClr val="222222"/>
                </a:solidFill>
                <a:latin typeface="맑은 고딕"/>
              </a:rPr>
              <a:t>누적 열람 횟수 0회</a:t>
            </a:r>
          </a:p>
          <a:p>
            <a:pPr marL="0" indent="0">
              <a:spcAft>
                <a:spcPts val="7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■  참조 `09_telemetry_pilot.csv` · `10_navigation_eval_vs_field.csv` · `02_benefit_register.csv` · `16_org_raci.csv`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7-8. 20:10 · 한도경이 AI PM 어시스턴트에게 물었다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§7-8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201400" cy="64008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</a:rPr>
              <a:t>■  퇴근하려던 한도경은 그날 하루가 계속 마음에 걸렸습니다. 그래서 매일 쓰는 어시스턴트에게 물었습니다.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201400" cy="4754880"/>
          </a:xfrm>
          <a:prstGeom prst="roundRect">
            <a:avLst/>
          </a:prstGeom>
          <a:solidFill>
            <a:srgbClr val="24282E"/>
          </a:solidFill>
          <a:ln>
            <a:solidFill>
              <a:srgbClr val="40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182880" bIns="137160" rtlCol="0" anchor="ctr"/>
          <a:lstStyle/>
          <a:p>
            <a:pPr algn="ctr"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한도경 ▸ HERMES 지금 문제 있나요?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pm-assistant ▸ 없습니다. 전 지표 정상입니다. 요구사항완료율92.9% /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               SPI1.02 / CPI0.98 / CI89.0% / OpenHighRisk0건.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한도경 ▸ 정말 문제가 없나요?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pm-assistant ▸ 제가 참조하는 지표 기준으로는 이상이 없습니다.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한도경 ▸ 어떤 지표를 참조하고 있죠?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pm-assistant ▸ 프로젝트 헌장 성공기준 SC-01~SC-08 입니다.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한도경 ▸ 파일럿 무개입 완주율은요?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pm-assistant ▸ 해당 지표는 제 참조 목록에 없습니다. 헌장 성공기준에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               포함되어 있지 않습니다.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한도경 ▸ 편익 지표는요? BEN-01부터 05까지.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pm-assistant ▸ 편익 관리대장에 측정값이 입력되어 있지 않습니다.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               측정 방법·주기·책임자가 모두 미지정 상태입니다.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한도경 ▸ ...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DDE3EA"/>
                </a:solidFill>
                <a:latin typeface="Consolas"/>
              </a:rPr>
              <a:t>pm-assistant ▸ 추가로 도와드릴 것이 있습니까?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7-8. (계속)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§7-8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77440"/>
            <a:ext cx="11201400" cy="52578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</a:rPr>
              <a:t>■  한도경은 화면을 오래 들여다봤습니다. 어시스턴트는 거짓말을 하지 않았습니다. </a:t>
            </a:r>
            <a:r>
              <a:rPr sz="2000" b="1">
                <a:solidFill>
                  <a:srgbClr val="222222"/>
                </a:solidFill>
                <a:latin typeface="맑은 고딕"/>
              </a:rPr>
              <a:t>한 번도.</a:t>
            </a:r>
          </a:p>
          <a:p>
            <a:pPr marL="0" indent="0"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</a:rPr>
              <a:t>■  그리고 자리에 앉아 PM 보호국 번호를 눌렀습니다.</a:t>
            </a:r>
          </a:p>
          <a:p>
            <a:pPr marL="320040" indent="0">
              <a:spcAft>
                <a:spcPts val="400"/>
              </a:spcAft>
            </a:pPr>
            <a:r>
              <a:rPr sz="1850" b="0">
                <a:solidFill>
                  <a:srgbClr val="5A5A5A"/>
                </a:solidFill>
                <a:latin typeface="맑은 고딕"/>
              </a:rPr>
              <a:t>•  “제발… 우리 프로젝트를 살려주세요.”</a:t>
            </a:r>
          </a:p>
          <a:p>
            <a:pPr marL="320040" indent="0">
              <a:spcAft>
                <a:spcPts val="400"/>
              </a:spcAft>
            </a:pPr>
            <a:r>
              <a:rPr sz="1850" b="0">
                <a:solidFill>
                  <a:srgbClr val="5A5A5A"/>
                </a:solidFill>
                <a:latin typeface="맑은 고딕"/>
              </a:rPr>
              <a:t>•  “무슨 일이 있었습니까?”</a:t>
            </a:r>
          </a:p>
          <a:p>
            <a:pPr marL="320040" indent="0">
              <a:spcAft>
                <a:spcPts val="400"/>
              </a:spcAft>
            </a:pPr>
            <a:r>
              <a:rPr sz="1850" b="0">
                <a:solidFill>
                  <a:srgbClr val="5A5A5A"/>
                </a:solidFill>
                <a:latin typeface="맑은 고딕"/>
              </a:rPr>
              <a:t>•  “…저도 모르겠습니다. 그래서 연락드린 겁니다.”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8. 확보된 증거 자료 (Data Pack) —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6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파일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01_charter_success_criteria.csv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프로젝트 헌장 성공기준 8개 + 실적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02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02_benefit_register.csv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편익 관리대장 (BEN-01~05)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03_requirements.csv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요구사항 84건 baseline (상태·Owner·DoD·편익연결)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04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04_jira_issues.csv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Jira 이슈 180건 (스프린트·DoD버전·QA검증·편익연결)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05_change_requests.csv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변경 요청 47건 (기록 경로별)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06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06_evm_weekly.csv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EVM 주간 33주 (개발/AI인프라/외부/통합)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07_ai_infra_cost.csv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AI 인프라(시뮬레이션·추론) 비용 주간 33주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08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08_ai_weekly_report_archive.csv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AI 자동 주간보고 16건 (week 18~33)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09_telemetry_pilot.csv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파일럿 플릿 텔레메트리 6주 (24개 사업장·120대)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03504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모든 판단은 이 자료에 근거해야 하며, 추측이 아닌 인용으로 제시하십시오.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8. 확보된 증거 자료 (Data Pack) —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6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파일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10_navigation_eval_vs_field.csv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테스트베드 성공률 vs 실사업장 주행 로그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11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11_risk_register.csv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리스크 관리대장 14건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12_decision_log_3regions.csv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3개 지역 결정 로그 대조표 12건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13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13_ci_metrics.csv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CI 지표 주간 33주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14_resource_health.csv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자원·인력·일정 건강도 13항목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15_governance_log.csv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스티어링 커미티 운영 기록 9회차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16_org_raci.csv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RACI 매트릭스 14항목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17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17_meeting_minutes.md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회의록 7건 전문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18_email_threads.md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메일·메신저 스레드 6건 전문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03504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⚠️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주의: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 이 자료에는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실제로 건강한 영역도 포함되어 있습니다.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 7개 Performance Domain을 전부 문제로 만들려 하지 마십시오.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해당하지 않는 영역까지 억지로 끼워 넣으면 감점됩니다.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사건파일 HERMES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에필로그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11201400" cy="52578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</a:rPr>
              <a:t>■  CASE FILE RECEIVED — 사건파일 접수</a:t>
            </a:r>
          </a:p>
          <a:p>
            <a:pPr marL="0" indent="0"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</a:rPr>
              <a:t>■  IDENTIFY THE REAL PROBLEM — 프로젝트의 진짜 문제를 식별하라</a:t>
            </a:r>
          </a:p>
          <a:p>
            <a:pPr marL="0" indent="0"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</a:rPr>
              <a:t>■  DESIGN THE IMPROVEMENT — 가치 중심의 개선안을 설계하라</a:t>
            </a:r>
          </a:p>
          <a:p>
            <a:pPr marL="0" indent="0"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</a:rPr>
              <a:t>■  BUILD THE AI-ENABLED POC — AI 기반 POC를 구현하라</a:t>
            </a:r>
          </a:p>
          <a:p>
            <a:pPr>
              <a:spcAft>
                <a:spcPts val="400"/>
              </a:spcAft>
            </a:pPr>
            <a:r>
              <a:rPr sz="1200"/>
              <a:t> </a:t>
            </a:r>
          </a:p>
          <a:p>
            <a:pPr marL="0" indent="0"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</a:rPr>
              <a:t>■  PM PROTECTION BUREAU</a:t>
            </a:r>
          </a:p>
          <a:p>
            <a:pPr marL="0" indent="0"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</a:rPr>
              <a:t>■  OPEN THE CASE — 사건파일을 개봉하십시오</a:t>
            </a:r>
          </a:p>
          <a:p>
            <a:pPr>
              <a:spcAft>
                <a:spcPts val="400"/>
              </a:spcAft>
            </a:pPr>
            <a:r>
              <a:rPr sz="1200"/>
              <a:t> </a:t>
            </a:r>
          </a:p>
          <a:p>
            <a:pPr marL="0" indent="0"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</a:rPr>
              <a:t>■  과제 내용은 「02. 본선 미션 지령지」 페이지를 확인하십시오.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1 · 사건파일  ·  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58A8A"/>
                </a:solidFill>
                <a:latin typeface="맑은 고딕"/>
              </a:rPr>
              <a:t>LG SW PM Competition 2026 본선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본선 미션 지령지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C9D3E8"/>
                </a:solidFill>
                <a:latin typeface="맑은 고딕"/>
              </a:rPr>
              <a:t>사건번호 PMB-2026-0827  ·  PM 보호국 감독관 귀하  ·  LGE Internal Use Only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본선 미션 지령지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임무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1201400" cy="52578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</a:rPr>
              <a:t>■  여러분은 </a:t>
            </a:r>
            <a:r>
              <a:rPr sz="2000" b="1">
                <a:solidFill>
                  <a:srgbClr val="222222"/>
                </a:solidFill>
                <a:latin typeface="맑은 고딕"/>
              </a:rPr>
              <a:t>PM 보호국 감독관</a:t>
            </a:r>
            <a:r>
              <a:rPr sz="2000" b="0">
                <a:solidFill>
                  <a:srgbClr val="222222"/>
                </a:solidFill>
                <a:latin typeface="맑은 고딕"/>
              </a:rPr>
              <a:t>으로 임명되었습니다. 아르고전자 </a:t>
            </a:r>
            <a:r>
              <a:rPr sz="2000" b="1">
                <a:solidFill>
                  <a:srgbClr val="222222"/>
                </a:solidFill>
                <a:latin typeface="맑은 고딕"/>
              </a:rPr>
              <a:t>HERMES</a:t>
            </a:r>
            <a:r>
              <a:rPr sz="2000" b="0">
                <a:solidFill>
                  <a:srgbClr val="222222"/>
                </a:solidFill>
                <a:latin typeface="맑은 고딕"/>
              </a:rPr>
              <a:t> 프로젝트의 사건파일과 증거자료 일체를 인수했습니다.</a:t>
            </a:r>
          </a:p>
          <a:p>
            <a:pPr marL="0" indent="0"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</a:rPr>
              <a:t>■  </a:t>
            </a:r>
            <a:r>
              <a:rPr sz="2000" b="1">
                <a:solidFill>
                  <a:srgbClr val="222222"/>
                </a:solidFill>
                <a:latin typeface="맑은 고딕"/>
              </a:rPr>
              <a:t>이 프로젝트의 데몬을 찾아내고, 가치를 회복시키십시오.</a:t>
            </a:r>
          </a:p>
          <a:p>
            <a:pPr>
              <a:spcAft>
                <a:spcPts val="400"/>
              </a:spcAft>
            </a:pPr>
            <a:r>
              <a:rPr sz="1200"/>
              <a:t> </a:t>
            </a:r>
          </a:p>
          <a:p>
            <a:pPr marL="0" indent="0"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</a:rPr>
              <a:t>■  임무는 4단계입니다:</a:t>
            </a:r>
          </a:p>
          <a:p>
            <a:pPr marL="320040" indent="0">
              <a:spcAft>
                <a:spcPts val="400"/>
              </a:spcAft>
            </a:pPr>
            <a:r>
              <a:rPr sz="1850" b="0">
                <a:solidFill>
                  <a:srgbClr val="5A5A5A"/>
                </a:solidFill>
                <a:latin typeface="맑은 고딕"/>
              </a:rPr>
              <a:t>•  ① 진짜 문제를 식별하라 (Identify)</a:t>
            </a:r>
          </a:p>
          <a:p>
            <a:pPr marL="320040" indent="0">
              <a:spcAft>
                <a:spcPts val="400"/>
              </a:spcAft>
            </a:pPr>
            <a:r>
              <a:rPr sz="1850" b="0">
                <a:solidFill>
                  <a:srgbClr val="5A5A5A"/>
                </a:solidFill>
                <a:latin typeface="맑은 고딕"/>
              </a:rPr>
              <a:t>•  ② 3관점으로 분석하라 (Analyze — Mindset / Domain / AI Use Case)</a:t>
            </a:r>
          </a:p>
          <a:p>
            <a:pPr marL="320040" indent="0">
              <a:spcAft>
                <a:spcPts val="400"/>
              </a:spcAft>
            </a:pPr>
            <a:r>
              <a:rPr sz="1850" b="0">
                <a:solidFill>
                  <a:srgbClr val="5A5A5A"/>
                </a:solidFill>
                <a:latin typeface="맑은 고딕"/>
              </a:rPr>
              <a:t>•  ③ 가치 중심 개선안을 설계하라 (Design)</a:t>
            </a:r>
          </a:p>
          <a:p>
            <a:pPr marL="320040" indent="0">
              <a:spcAft>
                <a:spcPts val="400"/>
              </a:spcAft>
            </a:pPr>
            <a:r>
              <a:rPr sz="1850" b="0">
                <a:solidFill>
                  <a:srgbClr val="5A5A5A"/>
                </a:solidFill>
                <a:latin typeface="맑은 고딕"/>
              </a:rPr>
              <a:t>•  ④ AI 기반 POC를 구현하라 (Build)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2 · 미션 지령지  ·  29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본선 미션 지령지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과제 1. 문제 정의 (Identify)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01400" cy="52578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■  1. </a:t>
            </a:r>
            <a:r>
              <a:rPr sz="1800" b="1">
                <a:solidFill>
                  <a:srgbClr val="222222"/>
                </a:solidFill>
                <a:latin typeface="맑은 고딕"/>
              </a:rPr>
              <a:t>근본 원인(데몬) 1개</a:t>
            </a:r>
            <a:r>
              <a:rPr sz="1800" b="0">
                <a:solidFill>
                  <a:srgbClr val="222222"/>
                </a:solidFill>
                <a:latin typeface="맑은 고딕"/>
              </a:rPr>
              <a:t>를 특정하고, 왜 그것이 근본 원인인지 논증하십시오.</a:t>
            </a:r>
          </a:p>
          <a:p>
            <a:pPr marL="0" indent="0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■  2. </a:t>
            </a:r>
            <a:r>
              <a:rPr sz="1800" b="1">
                <a:solidFill>
                  <a:srgbClr val="222222"/>
                </a:solidFill>
                <a:latin typeface="맑은 고딕"/>
              </a:rPr>
              <a:t>핵심 문제 3~5개</a:t>
            </a:r>
            <a:r>
              <a:rPr sz="1800" b="0">
                <a:solidFill>
                  <a:srgbClr val="222222"/>
                </a:solidFill>
                <a:latin typeface="맑은 고딕"/>
              </a:rPr>
              <a:t>를 도출하고 우선순위를 부여하십시오.</a:t>
            </a:r>
          </a:p>
          <a:p>
            <a:pPr marL="0" indent="0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■  3. 모든 주장은 </a:t>
            </a:r>
            <a:r>
              <a:rPr sz="1800" b="1">
                <a:solidFill>
                  <a:srgbClr val="222222"/>
                </a:solidFill>
                <a:latin typeface="맑은 고딕"/>
              </a:rPr>
              <a:t>제공된 증거자료의 파일명·행·인용문으로 근거를 제시</a:t>
            </a:r>
            <a:r>
              <a:rPr sz="1800" b="0">
                <a:solidFill>
                  <a:srgbClr val="222222"/>
                </a:solidFill>
                <a:latin typeface="맑은 고딕"/>
              </a:rPr>
              <a:t>하십시오.</a:t>
            </a:r>
          </a:p>
          <a:p>
            <a:pPr marL="320040" indent="0">
              <a:spcAft>
                <a:spcPts val="400"/>
              </a:spcAft>
            </a:pPr>
            <a:r>
              <a:rPr sz="1650" b="0">
                <a:solidFill>
                  <a:srgbClr val="5A5A5A"/>
                </a:solidFill>
                <a:latin typeface="맑은 고딕"/>
              </a:rPr>
              <a:t>•  ✅ `09_telemetry_pilot.csv`: 무개입 완주율 18.4% → 6.1% (6주 연속 하락)</a:t>
            </a:r>
          </a:p>
          <a:p>
            <a:pPr marL="320040" indent="0">
              <a:spcAft>
                <a:spcPts val="400"/>
              </a:spcAft>
            </a:pPr>
            <a:r>
              <a:rPr sz="1650" b="0">
                <a:solidFill>
                  <a:srgbClr val="5A5A5A"/>
                </a:solidFill>
                <a:latin typeface="맑은 고딕"/>
              </a:rPr>
              <a:t>•  ❌ “사용자 수용성이 낮을 것으로 추정됨”</a:t>
            </a:r>
          </a:p>
          <a:p>
            <a:pPr marL="0" indent="0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맑은 고딕"/>
              </a:rPr>
              <a:t>■  4. </a:t>
            </a:r>
            <a:r>
              <a:rPr sz="1800" b="1">
                <a:solidFill>
                  <a:srgbClr val="222222"/>
                </a:solidFill>
                <a:latin typeface="맑은 고딕"/>
              </a:rPr>
              <a:t>표면 증상과 근본 원인을 구분</a:t>
            </a:r>
            <a:r>
              <a:rPr sz="1800" b="0">
                <a:solidFill>
                  <a:srgbClr val="222222"/>
                </a:solidFill>
                <a:latin typeface="맑은 고딕"/>
              </a:rPr>
              <a:t>하십시오. 이 프로젝트의 지표는 전부 GREEN입니다.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2 · 미션 지령지  ·  30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본선 미션 지령지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과제 2-1. Project Management Mindset (3요소)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§2-1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1914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84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요소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하위 개념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분석 요구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Proactive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Holistic View, Quality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문제가 곪기 전 짚을 기회는 언제, 어디에 있었는가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Ownership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Accountable Leader, Empowered Culture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누가 무엇에 책임을 지고 있었고, 지지 않았는가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Value-driven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Value Focus, Sustainability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어떤 의사결정이 가치 대신 무엇을 우선했는가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2 · 미션 지령지  ·  31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본선 미션 지령지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과제 2-2. Performance Domain (7개 중 해당하는 영역만)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§2-2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01400" cy="52578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</a:rPr>
              <a:t>■  Governance / Scope / Schedule / Financial / Stakeholders / Resources / Risk</a:t>
            </a:r>
          </a:p>
          <a:p>
            <a:pPr marL="0" indent="0"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</a:rPr>
              <a:t>■  </a:t>
            </a:r>
            <a:r>
              <a:rPr sz="1900" b="1">
                <a:solidFill>
                  <a:srgbClr val="222222"/>
                </a:solidFill>
                <a:latin typeface="맑은 고딕"/>
              </a:rPr>
              <a:t>이 시나리오에 실제 해당하는 영역만</a:t>
            </a:r>
            <a:r>
              <a:rPr sz="1900" b="0">
                <a:solidFill>
                  <a:srgbClr val="222222"/>
                </a:solidFill>
                <a:latin typeface="맑은 고딕"/>
              </a:rPr>
              <a:t> 선별하십시오.</a:t>
            </a:r>
          </a:p>
          <a:p>
            <a:pPr marL="0" indent="0"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</a:rPr>
              <a:t>■  ⚠️ </a:t>
            </a:r>
            <a:r>
              <a:rPr sz="1900" b="1">
                <a:solidFill>
                  <a:srgbClr val="222222"/>
                </a:solidFill>
                <a:latin typeface="맑은 고딕"/>
              </a:rPr>
              <a:t>해당하지 않는 영역까지 억지로 끼워 넣으면 감점됩니다.</a:t>
            </a:r>
            <a:r>
              <a:rPr sz="1900" b="0">
                <a:solidFill>
                  <a:srgbClr val="222222"/>
                </a:solidFill>
                <a:latin typeface="맑은 고딕"/>
              </a:rPr>
              <a:t> 7개 전부 언급이 목표가 아닙니다.</a:t>
            </a:r>
          </a:p>
          <a:p>
            <a:pPr marL="0" indent="0"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</a:rPr>
              <a:t>■  각 영역에 대해 </a:t>
            </a:r>
            <a:r>
              <a:rPr sz="1900" b="1">
                <a:solidFill>
                  <a:srgbClr val="222222"/>
                </a:solidFill>
                <a:latin typeface="맑은 고딕"/>
              </a:rPr>
              <a:t>“무엇이, 왜”</a:t>
            </a:r>
            <a:r>
              <a:rPr sz="1900" b="0">
                <a:solidFill>
                  <a:srgbClr val="222222"/>
                </a:solidFill>
                <a:latin typeface="맑은 고딕"/>
              </a:rPr>
              <a:t> 무너졌는지 자료 인용으로 제시하십시오.</a:t>
            </a:r>
          </a:p>
          <a:p>
            <a:pPr marL="0" indent="0"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</a:rPr>
              <a:t>■  </a:t>
            </a:r>
            <a:r>
              <a:rPr sz="1900" b="1">
                <a:solidFill>
                  <a:srgbClr val="222222"/>
                </a:solidFill>
                <a:latin typeface="맑은 고딕"/>
              </a:rPr>
              <a:t>영역 간 연쇄효과(파급 경로)</a:t>
            </a:r>
            <a:r>
              <a:rPr sz="1900" b="0">
                <a:solidFill>
                  <a:srgbClr val="222222"/>
                </a:solidFill>
                <a:latin typeface="맑은 고딕"/>
              </a:rPr>
              <a:t> 를 반드시 설명하십시오.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2 · 미션 지령지  ·  32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본선 미션 지령지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과제 2-3. AI Use Case (3유형)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§2-3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1892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2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유형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분석 요구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Automation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AI 전자동 처리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이 프로젝트에서 자동화된 것은 무엇이고, 무엇이 잘못되었는가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Assistance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AI 초안 + 사람 편집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Augmentation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사람 판단을 AI가 강화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29184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현재 HERMES가 AI를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어떤 유형으로 쓰고 있는지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, 그 선택이 적절했는지 판단하십시오.</a:t>
            </a:r>
          </a:p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분석 범위는 제품에 들어간 AI만이 아닙니다 — 코드 생성·코드 리뷰·상태보고·스탠드업 요약·PM 질의응답까지 에이전트가 담당합니다(사건파일 §7).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프로젝트를 운영하는 방식에 쓰인 AI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도 분석하십시오.</a:t>
            </a:r>
          </a:p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AI 자원 관리 상태도 분석 대상 — 단일 예산 풀, 개발 에이전트와 현장 추론의 쿼터 경쟁, 쿼터 배분 결정의 파급효과.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2 · 미션 지령지  ·  33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본선 미션 지령지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과제 3. 개선안 설계 (Design)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2822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5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What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무엇을 바꾸는가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Owner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누가(어느 조직) 실행 책임을 지는가 — 이름 또는 역할까지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Authority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그 Owner에게 어떤 의사결정 권한·자원이 주어지는가 (Empowered Culture)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Metric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개선 여부를 무엇으로 측정하는가 (가능하면 BEN-01~05 편익 지표와 연결)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Value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이 개선이 지키려는 가치 — 고객가치 / 사업가치 / 지속가능성 중 무엇인가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20624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Value-Driven AI Agentic Project Management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 로 전환하기 위한 개선안을 제시하십시오. 각 개선 항목은 위 5가지를 반드시 명시합니다.</a:t>
            </a:r>
          </a:p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또한 다음을 논증하십시오: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단기 일정 준수 vs 장기 가치 훼손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 트레이드오프에 대한 판단과 근거 / 상부 압박 상황에서도 문제가 축소·은폐되지 않는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구조적 장치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2 · 미션 지령지  ·  34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본선 미션 지령지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과제 4. AI Use Case POC 구현 (Build) ★ — 4-1. 필수 요건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§4-1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01400" cy="52578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■ 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설명이 아니라, 실제로 동작하는 것을 시연하십시오.</a:t>
            </a:r>
          </a:p>
          <a:p>
            <a:pPr>
              <a:spcAft>
                <a:spcPts val="400"/>
              </a:spcAft>
            </a:pPr>
            <a:r>
              <a:rPr sz="900"/>
              <a:t> </a:t>
            </a:r>
          </a:p>
          <a:p>
            <a:pPr marL="0" indent="0">
              <a:spcAft>
                <a:spcPts val="7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■  1.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동작할 것.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화면·리포트·출력물 중 무엇이든 실제로 실행되어 결과가 나와야 합니다.</a:t>
            </a:r>
          </a:p>
          <a:p>
            <a:pPr marL="0" indent="0">
              <a:spcAft>
                <a:spcPts val="7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■  2.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유형을 선언할 것.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Automation / Assistance / Augmentation 중 하나를 명시적으로 선언하고, 왜 그 유형인지 설명하십시오.</a:t>
            </a:r>
          </a:p>
          <a:p>
            <a:pPr marL="0" indent="0">
              <a:spcAft>
                <a:spcPts val="7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■  3.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선언과 구현이 일치할 것.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“Augmentation을 만들었다”고 선언했으면, 실제로 사람의 판단을 강화하는 구조여야 합니다.</a:t>
            </a:r>
          </a:p>
          <a:p>
            <a:pPr marL="0" indent="0">
              <a:spcAft>
                <a:spcPts val="7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■  4.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과제 1에서 도출한 문제를 해결할 것.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문제-솔루션 적합성이 핵심 평가 항목입니다.</a:t>
            </a:r>
          </a:p>
          <a:p>
            <a:pPr marL="0" indent="0">
              <a:spcAft>
                <a:spcPts val="7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■  5.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제공된 Data Pack을 입력으로 쓸 것.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외부 데이터 수집은 불필요합니다.</a:t>
            </a:r>
          </a:p>
          <a:p>
            <a:pPr marL="0" indent="0">
              <a:spcAft>
                <a:spcPts val="7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■  6. </a:t>
            </a:r>
            <a:r>
              <a:rPr sz="1700" b="1">
                <a:solidFill>
                  <a:srgbClr val="222222"/>
                </a:solidFill>
                <a:latin typeface="맑은 고딕"/>
              </a:rPr>
              <a:t>데이터의 한계를 인식할 것.</a:t>
            </a:r>
            <a:r>
              <a:rPr sz="1700" b="0">
                <a:solidFill>
                  <a:srgbClr val="222222"/>
                </a:solidFill>
                <a:latin typeface="맑은 고딕"/>
              </a:rPr>
              <a:t> 오탐·과신·데이터 품질 리스크를 어떻게 다루는지 밝히십시오.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2 · 미션 지령지  ·  35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본선 미션 지령지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4-2. POC 범위 가드레일 — 1일 안에 완주하기 위한 제약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§4-2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3284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9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제약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기준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목적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단 하나의 의사결정 문제를 해결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입력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제공된 Data Pack (CSV / MD)만 사용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출력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1개 화면 또는 1개 리포트 — PM/스폰서가 보고 판단할 수 있는 산출물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기술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자유 (스프레드시트·스크립트·웹·노코드·사내 LLM 도구 등 무엇이든)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데이터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실제 제공 데이터로 구동. 하드코딩된 가짜 결과는 인정하지 않음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3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시연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발표 중 2~3분 내 라이브 시연 가능해야 함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66344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⚠️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이 가드레일을 지키십시오. 크게 만들면 완성하지 못합니다.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 평가 대상은 POC의 규모나 완성도가 아니라,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문제-솔루션 적합성과 유형 일치성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2 · 미션 지령지  ·  36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본선 미션 지령지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4-3. POC 예시 (정답이 아닙니다 — 범위 감각을 위한 참고)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§4-3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1892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6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0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4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유형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예시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입력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</a:rPr>
                        <a:t>출력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</a:rPr>
                        <a:t>Automation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</a:rPr>
                        <a:t>편익 미연결 작업 자동 탐지기 — Jira 이슈 중 편익(BEN) 연결이 없는 항목을 자동 식별해 경고 목록 생성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</a:rPr>
                        <a:t>04, 02, 03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</a:rPr>
                        <a:t>경고 리스트 + 비율 지표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</a:rPr>
                        <a:t>Assistance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</a:rPr>
                        <a:t>주간 상태보고 초안 생성기 — Output/Outcome 지표를 함께 담은 보고서 초안 생성, 사람이 검토·서명하는 칸을 강제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</a:rPr>
                        <a:t>06, 07, 09, 08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</a:rPr>
                        <a:t>보고서 초안 1건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</a:rPr>
                        <a:t>Augmentation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</a:rPr>
                        <a:t>가치 기반 잔여 범위 의사결정 보드 — 잔여 6건 vs 무개입 완주율 개선 중 우선순위를, 편익기여도·비용·리스크로 정량화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</a:rPr>
                        <a:t>02, 03, 07, 09, 10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  <a:latin typeface="맑은 고딕"/>
                        </a:rPr>
                        <a:t>우선순위 비교 화면 + 근거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29184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위 3개 중 하나를 골라도 되고, 완전히 다른 것을 만들어도 됩니다.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단, 과제 1에서 도출한 근본 원인과 직결되어야 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2 · 미션 지령지  ·  37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본선 미션 지령지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과제 5. 효과 및 확산 (Impact)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01400" cy="52578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</a:rPr>
              <a:t>■  1. 개선안·POC 적용 시 </a:t>
            </a:r>
            <a:r>
              <a:rPr sz="1900" b="1">
                <a:solidFill>
                  <a:srgbClr val="222222"/>
                </a:solidFill>
                <a:latin typeface="맑은 고딕"/>
              </a:rPr>
              <a:t>기대 효과를 편익 지표(BEN-01~05)로 정량화</a:t>
            </a:r>
            <a:r>
              <a:rPr sz="1900" b="0">
                <a:solidFill>
                  <a:srgbClr val="222222"/>
                </a:solidFill>
                <a:latin typeface="맑은 고딕"/>
              </a:rPr>
              <a:t>하십시오. 가정은 명시하십시오.</a:t>
            </a:r>
          </a:p>
          <a:p>
            <a:pPr marL="0" indent="0"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</a:rPr>
              <a:t>■  2. </a:t>
            </a:r>
            <a:r>
              <a:rPr sz="1900" b="1">
                <a:solidFill>
                  <a:srgbClr val="222222"/>
                </a:solidFill>
                <a:latin typeface="맑은 고딕"/>
              </a:rPr>
              <a:t>현업 이관 가능성</a:t>
            </a:r>
            <a:r>
              <a:rPr sz="1900" b="0">
                <a:solidFill>
                  <a:srgbClr val="222222"/>
                </a:solidFill>
                <a:latin typeface="맑은 고딕"/>
              </a:rPr>
              <a:t> — 우리 조직에 적용할 때 필요한 자원·기간을 현실적으로 제시하십시오.</a:t>
            </a:r>
          </a:p>
          <a:p>
            <a:pPr marL="0" indent="0"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</a:rPr>
              <a:t>■  3. </a:t>
            </a:r>
            <a:r>
              <a:rPr sz="1900" b="1">
                <a:solidFill>
                  <a:srgbClr val="222222"/>
                </a:solidFill>
                <a:latin typeface="맑은 고딕"/>
              </a:rPr>
              <a:t>일반화 수준</a:t>
            </a:r>
            <a:r>
              <a:rPr sz="1900" b="0">
                <a:solidFill>
                  <a:srgbClr val="222222"/>
                </a:solidFill>
                <a:latin typeface="맑은 고딕"/>
              </a:rPr>
              <a:t> — 이 시나리오 전용 해법인지, 유사 프로젝트로 확장 가능한지 밝히십시오.</a:t>
            </a:r>
          </a:p>
          <a:p>
            <a:pPr marL="0" indent="0"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맑은 고딕"/>
              </a:rPr>
              <a:t>■  4. </a:t>
            </a:r>
            <a:r>
              <a:rPr sz="1900" b="1">
                <a:solidFill>
                  <a:srgbClr val="222222"/>
                </a:solidFill>
                <a:latin typeface="맑은 고딕"/>
              </a:rPr>
              <a:t>지속가능성(Sustainability)</a:t>
            </a:r>
            <a:r>
              <a:rPr sz="1900" b="0">
                <a:solidFill>
                  <a:srgbClr val="222222"/>
                </a:solidFill>
                <a:latin typeface="맑은 고딕"/>
              </a:rPr>
              <a:t> — 프로젝트 종료 후에도 유지·운영되는 구조인지 설명하십시오.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2 · 미션 지령지  ·  38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본선 미션 지령지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산출물 및 제출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발표 자료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PPT 또는 PDF (양식 자유). 표지에 팀명·팀원 명기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POC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실행 가능한 형태 (코드·파일·URL·노트북 등) + 실행 방법 1페이지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제출처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DL-lgswpmc-2026@lge.com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마감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본선 1일차 21:00 (이후 수정 불가 — 발표 버전으로 확정)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2 · 미션 지령지  ·  39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본선 미션 지령지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발표 시간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20분 — 문제 → 분석 → 솔루션 → 효과 구조 권장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POC 시연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발표 20분 내에 포함 (2~3분 권장)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질의응답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10분 · 심사위원 3인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일시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본선 2일차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749039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질의응답 안내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 — 준비된 대본보다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실제 이해에 기반한 답변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을 높게 평가합니다. 모르는 것은 모른다고 인정하고 논리적으로 대응하는 편이, 억지로 답을 만드는 것보다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더 높은 점수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를 받습니다.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2 · 미션 지령지  ·  40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본선 미션 지령지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평가 기준 (총 100점)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2822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16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맑은 고딕"/>
                        </a:rPr>
                        <a:t>축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맑은 고딕"/>
                        </a:rPr>
                        <a:t>배점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맑은 고딕"/>
                        </a:rPr>
                        <a:t>핵심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222"/>
                          </a:solidFill>
                          <a:latin typeface="맑은 고딕"/>
                        </a:rPr>
                        <a:t>A. PM Mindset 적용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222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222"/>
                          </a:solidFill>
                          <a:latin typeface="맑은 고딕"/>
                        </a:rPr>
                        <a:t>Proactive·Ownership·Value-driven 3요소가 개선안에 각각 드러나는가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222"/>
                          </a:solidFill>
                          <a:latin typeface="맑은 고딕"/>
                        </a:rPr>
                        <a:t>B. Performance Domain 분석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222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222"/>
                          </a:solidFill>
                          <a:latin typeface="맑은 고딕"/>
                        </a:rPr>
                        <a:t>핵심 영역을 정확히 식별했는가·영역 간 연쇄효과를 봤는가·무관한 영역을 끼워 넣지 않았는가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222"/>
                          </a:solidFill>
                          <a:latin typeface="맑은 고딕"/>
                        </a:rPr>
                        <a:t>C. AI Use Case 구현(POC)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222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222"/>
                          </a:solidFill>
                          <a:latin typeface="맑은 고딕"/>
                        </a:rPr>
                        <a:t>실제 동작하는가·유형 선언이 명확한가·선언과 구현이 일치하는가·문제-솔루션 적합성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222"/>
                          </a:solidFill>
                          <a:latin typeface="맑은 고딕"/>
                        </a:rPr>
                        <a:t>D. 실행가능성·현업 적용성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222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222"/>
                          </a:solidFill>
                          <a:latin typeface="맑은 고딕"/>
                        </a:rPr>
                        <a:t>자원·기간의 현실성·일반화 가능성·지속가능성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222"/>
                          </a:solidFill>
                          <a:latin typeface="맑은 고딕"/>
                        </a:rPr>
                        <a:t>E. 발표 구성 &amp; 질의응답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222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222"/>
                          </a:solidFill>
                          <a:latin typeface="맑은 고딕"/>
                        </a:rPr>
                        <a:t>논리적 전달력·실제 이해 기반 응답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2 · 미션 지령지  ·  41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05156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>
                <a:solidFill>
                  <a:srgbClr val="C9D3E8"/>
                </a:solidFill>
                <a:latin typeface="맑은 고딕"/>
              </a:rPr>
              <a:t>본선 미션 지령지 · PMB-2026-0827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마지막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201400" cy="52578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</a:rPr>
              <a:t>■  이 사건에는 </a:t>
            </a:r>
            <a:r>
              <a:rPr sz="2000" b="1">
                <a:solidFill>
                  <a:srgbClr val="222222"/>
                </a:solidFill>
                <a:latin typeface="맑은 고딕"/>
              </a:rPr>
              <a:t>정답이 하나가 아닙니다.</a:t>
            </a:r>
            <a:r>
              <a:rPr sz="2000" b="0">
                <a:solidFill>
                  <a:srgbClr val="222222"/>
                </a:solidFill>
                <a:latin typeface="맑은 고딕"/>
              </a:rPr>
              <a:t> 그러나 </a:t>
            </a:r>
            <a:r>
              <a:rPr sz="2000" b="1">
                <a:solidFill>
                  <a:srgbClr val="222222"/>
                </a:solidFill>
                <a:latin typeface="맑은 고딕"/>
              </a:rPr>
              <a:t>오답은 분명히 있습니다.</a:t>
            </a:r>
          </a:p>
          <a:p>
            <a:pPr>
              <a:spcAft>
                <a:spcPts val="400"/>
              </a:spcAft>
            </a:pPr>
            <a:r>
              <a:rPr sz="1200"/>
              <a:t> </a:t>
            </a:r>
          </a:p>
          <a:p>
            <a:pPr marL="320040" indent="0">
              <a:spcAft>
                <a:spcPts val="400"/>
              </a:spcAft>
            </a:pPr>
            <a:r>
              <a:rPr sz="1850" b="0">
                <a:solidFill>
                  <a:srgbClr val="5A5A5A"/>
                </a:solidFill>
                <a:latin typeface="맑은 고딕"/>
              </a:rPr>
              <a:t>•  지표가 GREEN이니 문제가 없다고 판단하는 것</a:t>
            </a:r>
          </a:p>
          <a:p>
            <a:pPr marL="320040" indent="0">
              <a:spcAft>
                <a:spcPts val="400"/>
              </a:spcAft>
            </a:pPr>
            <a:r>
              <a:rPr sz="1850" b="0">
                <a:solidFill>
                  <a:srgbClr val="5A5A5A"/>
                </a:solidFill>
                <a:latin typeface="맑은 고딕"/>
              </a:rPr>
              <a:t>•  7개 Performance Domain을 전부 문제로 만드는 것</a:t>
            </a:r>
          </a:p>
          <a:p>
            <a:pPr marL="320040" indent="0">
              <a:spcAft>
                <a:spcPts val="400"/>
              </a:spcAft>
            </a:pPr>
            <a:r>
              <a:rPr sz="1850" b="0">
                <a:solidFill>
                  <a:srgbClr val="5A5A5A"/>
                </a:solidFill>
                <a:latin typeface="맑은 고딕"/>
              </a:rPr>
              <a:t>•  AI를 붙였다는 사실만으로 AI Use Case를 충족했다고 주장하는 것</a:t>
            </a:r>
          </a:p>
          <a:p>
            <a:pPr marL="320040" indent="0">
              <a:spcAft>
                <a:spcPts val="400"/>
              </a:spcAft>
            </a:pPr>
            <a:r>
              <a:rPr sz="1850" b="0">
                <a:solidFill>
                  <a:srgbClr val="5A5A5A"/>
                </a:solidFill>
                <a:latin typeface="맑은 고딕"/>
              </a:rPr>
              <a:t>•  동작하지 않는 것을 POC라고 부르는 것</a:t>
            </a:r>
          </a:p>
          <a:p>
            <a:pPr>
              <a:spcAft>
                <a:spcPts val="400"/>
              </a:spcAft>
            </a:pPr>
            <a:r>
              <a:rPr sz="1200"/>
              <a:t> </a:t>
            </a:r>
          </a:p>
          <a:p>
            <a:pPr marL="0" indent="0"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맑은 고딕"/>
              </a:rPr>
              <a:t>■  </a:t>
            </a:r>
            <a:r>
              <a:rPr sz="2000" b="1">
                <a:solidFill>
                  <a:srgbClr val="222222"/>
                </a:solidFill>
                <a:latin typeface="맑은 고딕"/>
              </a:rPr>
              <a:t>PROTECT THE VALUE. TURN IT INTO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A5A5A"/>
                </a:solidFill>
                <a:latin typeface="맑은 고딕"/>
              </a:rPr>
              <a:t>LG SW PM Competition 2026 · 본선 Case Study · 사건번호 PMB-2026-0827 · LGE Internal Use Only</a:t>
            </a:r>
            <a:r>
              <a:rPr sz="900" b="1">
                <a:solidFill>
                  <a:srgbClr val="5A5A5A"/>
                </a:solidFill>
                <a:latin typeface="맑은 고딕"/>
              </a:rPr>
              <a:t>      Part 2 · 미션 지령지  ·  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cc6ed9fc-fefc-4a0c-a6d6-10cf236c0d4f}" enabled="1" method="Standard" siteId="{5069cde4-642a-45c0-8094-d0c2dec10be3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6400</Words>
  <Application>Microsoft Office PowerPoint</Application>
  <PresentationFormat>와이드스크린</PresentationFormat>
  <Paragraphs>879</Paragraphs>
  <Slides>44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49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진명숙/책임/SW공학(연)SW역량강화팀</dc:creator>
  <cp:keywords/>
  <dc:description>generated using python-pptx</dc:description>
  <cp:lastModifiedBy>진명숙/책임/SW공학(연)SW역량강화팀</cp:lastModifiedBy>
  <cp:revision>1</cp:revision>
  <dcterms:created xsi:type="dcterms:W3CDTF">2013-01-27T09:14:16Z</dcterms:created>
  <dcterms:modified xsi:type="dcterms:W3CDTF">2026-08-18T09:43:22Z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LGE Internal Use Only</vt:lpwstr>
  </property>
</Properties>
</file>