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2" r:id="rId26"/>
    <p:sldId id="283" r:id="rId27"/>
    <p:sldId id="285" r:id="rId28"/>
    <p:sldId id="286" r:id="rId29"/>
    <p:sldId id="292" r:id="rId30"/>
    <p:sldId id="293" r:id="rId31"/>
    <p:sldId id="295" r:id="rId32"/>
    <p:sldId id="298" r:id="rId33"/>
    <p:sldId id="296" r:id="rId34"/>
    <p:sldId id="297" r:id="rId35"/>
    <p:sldId id="299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93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1" d="100"/>
          <a:sy n="101" d="100"/>
        </p:scale>
        <p:origin x="876" y="90"/>
      </p:cViewPr>
      <p:guideLst>
        <p:guide orient="horz" pos="2160"/>
        <p:guide pos="293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A79567-5E80-48FE-A26D-92A527AAA995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AF4AFE-6F69-4C95-AE6F-974BFD2CABD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4708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F4AFE-6F69-4C95-AE6F-974BFD2CABD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3453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AF4AFE-6F69-4C95-AE6F-974BFD2CABD7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110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604F50-0DBE-721C-A855-0FA5573C9D22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832553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dirty="0" err="1">
                <a:solidFill>
                  <a:srgbClr val="C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1800" dirty="0">
                <a:solidFill>
                  <a:srgbClr val="C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6332" y="2501714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40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687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</a:t>
            </a:r>
            <a:r>
              <a:rPr lang="en-US" altLang="ko-KR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PM</a:t>
            </a:r>
            <a:r>
              <a:rPr lang="ko-KR" altLang="en-US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보호국 </a:t>
            </a:r>
            <a:r>
              <a:rPr lang="en-US" altLang="ko-KR" sz="1600" b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Use Only</a:t>
            </a:r>
            <a:endParaRPr lang="en-US" sz="16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spcAft>
                <a:spcPts val="800"/>
              </a:spcAft>
            </a:pPr>
            <a:r>
              <a:rPr sz="16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배포</a:t>
            </a:r>
            <a:r>
              <a:rPr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대상</a:t>
            </a:r>
            <a:r>
              <a:rPr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sz="16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진출</a:t>
            </a:r>
            <a:r>
              <a:rPr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7개 팀 (</a:t>
            </a:r>
            <a:r>
              <a:rPr sz="16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팀당</a:t>
            </a:r>
            <a:r>
              <a:rPr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3인)   ·   </a:t>
            </a:r>
            <a:r>
              <a:rPr sz="16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배포</a:t>
            </a:r>
            <a:r>
              <a:rPr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시각</a:t>
            </a:r>
            <a:r>
              <a:rPr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sz="16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1일차 </a:t>
            </a:r>
            <a:r>
              <a:rPr lang="ko-KR" altLang="en-US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오전</a:t>
            </a:r>
            <a:endParaRPr sz="16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8C2D1E0-0C01-C4F4-3DDE-D3535DEE0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767" y="93500"/>
            <a:ext cx="12192000" cy="1397000"/>
          </a:xfrm>
          <a:prstGeom prst="rect">
            <a:avLst/>
          </a:prstGeom>
        </p:spPr>
      </p:pic>
      <p:pic>
        <p:nvPicPr>
          <p:cNvPr id="8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F6B0D64F-3A51-1A4A-9722-1DA028AE3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02954" y="6263858"/>
            <a:ext cx="824060" cy="3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프롤로그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—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특명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HERMES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프로젝트의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이상징후를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찾아라</a:t>
            </a:r>
            <a:endParaRPr sz="2600" b="1" dirty="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01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66A5D0-4738-50D0-5EEF-693487FB4C8E}"/>
              </a:ext>
            </a:extLst>
          </p:cNvPr>
          <p:cNvSpPr txBox="1"/>
          <p:nvPr/>
        </p:nvSpPr>
        <p:spPr>
          <a:xfrm>
            <a:off x="457200" y="1261871"/>
            <a:ext cx="112914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전화 한 통이 PM 보호국에 접수되었습니다. </a:t>
            </a:r>
            <a:br>
              <a:rPr kumimoji="0" lang="en-US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제보자는 프로젝트를 살려달라고 했지만, 무엇이 문제인지 설명하지 못했습니다.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우리가 확보한 것은 이 프로젝트의 모든 기록입니다. 일정은 지켜졌습니다. 예산은 승인 범위 안입니다. </a:t>
            </a:r>
            <a:br>
              <a:rPr kumimoji="0" lang="en-US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자율주행 성공률은 목표를 넘었습니다. 리스크는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High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등급이 0건입니다. </a:t>
            </a:r>
            <a:br>
              <a:rPr kumimoji="0" lang="en-US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주간 보고서는 16주 연속 All </a:t>
            </a:r>
            <a:r>
              <a:rPr kumimoji="0" lang="ko-KR" altLang="ko-KR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Green입니다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그런데 제보자는 이렇게 말했습니다.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"모든 게 정상이라고 나오는데, 현장에서는 직원이 로봇을 밀고 다닙니다.“</a:t>
            </a:r>
            <a:endParaRPr kumimoji="0" lang="en-US" altLang="ko-KR" sz="1800" b="1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감독관 여러분. 이 프로젝트에는 아직 발견되지 않은 </a:t>
            </a:r>
            <a:r>
              <a:rPr kumimoji="0" lang="ko-KR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이상징후가</a:t>
            </a: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있습니다. 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겉으로 드러난 현상이 아닌 본질을 찾으십시오.</a:t>
            </a:r>
            <a:endParaRPr kumimoji="0" lang="en-US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이제 이 사건은 여러분에게 맡겨졌습니다.</a:t>
            </a:r>
          </a:p>
          <a:p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endParaRPr lang="ko-KR" alt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A68C685-836C-5F7E-4C99-D34AF7BAE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697" y="4162425"/>
            <a:ext cx="3139354" cy="23663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1.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배경</a:t>
            </a:r>
            <a:endParaRPr sz="2600" b="1" dirty="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66AF68-A5A7-E1BE-8A49-5CAC8E1BA86A}"/>
              </a:ext>
            </a:extLst>
          </p:cNvPr>
          <p:cNvSpPr txBox="1"/>
          <p:nvPr/>
        </p:nvSpPr>
        <p:spPr>
          <a:xfrm>
            <a:off x="457200" y="1261871"/>
            <a:ext cx="112914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2026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년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서비스 로봇 시장의 경쟁 축은 로봇 한 대의 성능에서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"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로봇 수백 대를 어떻게 운영하는가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"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 이동했습니다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b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고객사가 로봇을 사는 이유는 로봇이 아닙니다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b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사람이 하던 일을 로봇이 대신해서 인건비와 운영 부담이 줄어드는 것입니다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</a:p>
          <a:p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그래서 시장의 승부는 하드웨어가 아니라 </a:t>
            </a:r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플릿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(fleet)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을 원격으로 관제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·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배포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·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최적화하는 소프트웨어에서 갈립니다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업계는 이를 </a:t>
            </a:r>
            <a:r>
              <a:rPr lang="en-US" altLang="ko-KR" i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software-defined robotics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라고 부릅니다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아르고전자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(ARGO Electronics)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는 연 매출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40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조원 규모의 글로벌 가전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·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로봇 기업입니다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b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2026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년 상반기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아르고전자는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로보틱스사업센터를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CEO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직속으로 신설하고 </a:t>
            </a:r>
            <a:b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2026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년을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"</a:t>
            </a:r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로보틱스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기반 구축의 해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"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 선언했습니다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</a:p>
          <a:p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사업은 세 축입니다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—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가정용은 </a:t>
            </a:r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로보틱스사업센터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산업용은 자회사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b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상업용은 미국 자회사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Bexar Robotics(2025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년 경영권 인수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레드우드시티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가 맡습니다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b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그 첫 번째 전사 실행 과제가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HERMES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프로젝트입니다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endParaRPr lang="ko-KR" alt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HERMES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개요</a:t>
            </a:r>
            <a:endParaRPr sz="2600" b="1" dirty="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022475"/>
              </p:ext>
            </p:extLst>
          </p:nvPr>
        </p:nvGraphicFramePr>
        <p:xfrm>
          <a:off x="502920" y="114300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37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항목</a:t>
                      </a:r>
                      <a:endParaRPr sz="1400" b="1" dirty="0">
                        <a:solidFill>
                          <a:srgbClr val="FFFFF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프로젝트명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HERMES — Fleet Orchestration Platform for Service Robots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목표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상업용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서비스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로봇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6개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기종을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하나의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플랫폼에서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원격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관제·임무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배차·경로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최적화·OTA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배포·이상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감지</a:t>
                      </a:r>
                      <a:endParaRPr sz="14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기간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2026-01-05 ~ 2026-09-30 (약 9개월)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총 예산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118억원 (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82억 / AI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인프라·시뮬레이션·추론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24억 /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외부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파트너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12억)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96명 —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한국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서울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양재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58명,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미국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레드우드시티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22명,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뱅갈로르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16명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운영 방식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2주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스프린트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(S1~S18) +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마일스톤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게이트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(G1~G5)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병행</a:t>
                      </a:r>
                      <a:endParaRPr sz="14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지원 기종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서빙봇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배송봇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청소봇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안내봇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물류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카트봇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방역봇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(6종)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상용 배포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2026-09-30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한국·미국·인도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3개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리전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동시</a:t>
                      </a:r>
                      <a:endParaRPr sz="14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현재 시점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2026-08-24(월) —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상용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배포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D-37,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스프린트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S17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진행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중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외부 파트너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736058"/>
              </p:ext>
            </p:extLst>
          </p:nvPr>
        </p:nvGraphicFramePr>
        <p:xfrm>
          <a:off x="502920" y="1143000"/>
          <a:ext cx="11201400" cy="14203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607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0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파트너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역할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계약 형태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Helion Robotics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자율주행 스택 — SLAM·내비게이션 SDK, 맵·커맨드 스키마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수의계약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(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스폰서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추천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Cordis Motion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액추에이터·모터 드라이버 SDK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경쟁입찰</a:t>
                      </a:r>
                      <a:endParaRPr sz="17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Business Case가 약속한 것 (2025-12-18 승인)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690848"/>
              </p:ext>
            </p:extLst>
          </p:nvPr>
        </p:nvGraphicFramePr>
        <p:xfrm>
          <a:off x="487680" y="1750290"/>
          <a:ext cx="11201400" cy="282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84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83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42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42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ID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편익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KPI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Baseline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Target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BEN-01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고객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사업장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계약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유지율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개선</a:t>
                      </a:r>
                      <a:endParaRPr sz="15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12개월 계약 유지율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31%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45%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BEN-02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현장 출동 정비(A/S) 절감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출동 건수/로봇 1천대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42건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29건 (-30%)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BEN-03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플릿 관제 구독(RaaS) 전환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유료 구독 전환율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BEN-04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플릿 데이터 기반 신규 매출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연 매출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0원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120억원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BEN-05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로봇 SW 릴리스 생산성 향상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OTA 릴리스 리드타임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21일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12일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87680" y="481353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이 5개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편익이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118억원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투자를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정당화한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근거입니다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 </a:t>
            </a:r>
            <a:endParaRPr lang="en-US" sz="1350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indent="0">
              <a:spcAft>
                <a:spcPts val="700"/>
              </a:spcAft>
            </a:pPr>
            <a:r>
              <a:rPr lang="en-US"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참조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`02_benefit_register.csv`</a:t>
            </a:r>
            <a:r>
              <a:rPr lang="ko-KR" altLang="en-US"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편익들이 지금 어떤 상태인지 직접 확인하십시오</a:t>
            </a:r>
            <a:r>
              <a:rPr lang="en-US" altLang="ko-KR"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endParaRPr sz="1350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333055-B443-2F19-0D28-204566C08285}"/>
              </a:ext>
            </a:extLst>
          </p:cNvPr>
          <p:cNvSpPr txBox="1"/>
          <p:nvPr/>
        </p:nvSpPr>
        <p:spPr>
          <a:xfrm>
            <a:off x="327429" y="1209964"/>
            <a:ext cx="907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승인 문서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(Business Case, 2025-12-18)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에는 다음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 편익이 명시되어 있습니다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endParaRPr lang="ko-KR" alt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등장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인물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(1/2)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649172"/>
              </p:ext>
            </p:extLst>
          </p:nvPr>
        </p:nvGraphicFramePr>
        <p:xfrm>
          <a:off x="502920" y="1143000"/>
          <a:ext cx="11201400" cy="3744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8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079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이름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/ </a:t>
                      </a:r>
                      <a:r>
                        <a:rPr sz="1600" b="1" dirty="0" err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소속</a:t>
                      </a:r>
                      <a:endParaRPr sz="1600" b="1" dirty="0">
                        <a:solidFill>
                          <a:srgbClr val="FFFFF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역할</a:t>
                      </a:r>
                      <a:endParaRPr sz="1600" b="1" dirty="0">
                        <a:solidFill>
                          <a:srgbClr val="FFFFF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책임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서지환 (로보틱스사업센터장 전무, 스폰서)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프로젝트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스폰서</a:t>
                      </a:r>
                      <a:endParaRPr sz="16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전사 후원, 예산 승인, 최종 에스컬레이션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한도경 (PM, SW PMO)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프로젝트 매니저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일정·범위·리스크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통합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관리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게이트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운영</a:t>
                      </a:r>
                      <a:endParaRPr sz="16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노유진 (PO, 서비스기획)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제품 책임자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요구사항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우선순위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서비스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가치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정의</a:t>
                      </a:r>
                      <a:endParaRPr sz="16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임태오 (자율주행/AI 플랫폼 리드)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자율주행 리드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주행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정책·시뮬레이션·추론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AI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인프라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운용</a:t>
                      </a:r>
                      <a:endParaRPr sz="16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배가온 (로봇SW·관제UX 리드)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로봇SW 리드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6기종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제어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연동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플릿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관제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콘솔</a:t>
                      </a:r>
                      <a:endParaRPr sz="16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정하람 (클라우드 플랫폼 리드)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플랫폼 리드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관제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API·성능·CI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/CD·OTA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문세아 (QA Lead)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품질 리드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테스트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전략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안전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검증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품질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게이트</a:t>
                      </a:r>
                      <a:endParaRPr sz="16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2. 등장 인물 (2/2)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997412"/>
              </p:ext>
            </p:extLst>
          </p:nvPr>
        </p:nvGraphicFramePr>
        <p:xfrm>
          <a:off x="502920" y="1143000"/>
          <a:ext cx="11310389" cy="3284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260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06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이름</a:t>
                      </a:r>
                      <a:r>
                        <a:rPr sz="1400" b="1" dirty="0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/ </a:t>
                      </a:r>
                      <a:r>
                        <a:rPr sz="1400" b="1" dirty="0" err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소속</a:t>
                      </a:r>
                      <a:endParaRPr sz="1400" b="1" dirty="0">
                        <a:solidFill>
                          <a:srgbClr val="FFFFF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역할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책임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오시윤 (Data/Fleet Analytics Lead)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데이터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리드</a:t>
                      </a:r>
                      <a:endParaRPr sz="14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플릿 텔레메트리, 가동률 지표, 파일럿 분석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윤채원 (안전/보안·법무)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안전·규제 담당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ISO 13482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안전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인증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EU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기계류규정·AI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Act,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영상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개인정보</a:t>
                      </a:r>
                      <a:endParaRPr sz="14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남기웅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(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구매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/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벤더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매니저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외부 협력 담당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계약·SLA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파트너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커뮤니케이션</a:t>
                      </a:r>
                      <a:endParaRPr sz="14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Daniel Suh (미국 레드우드시티, Bexar Robotics)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상업용 로봇 개발 리드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미국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리전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현장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배치</a:t>
                      </a:r>
                      <a:endParaRPr sz="14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Ananya Rao (인도 뱅갈로르)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인도 개발 리드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리전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QA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자동화</a:t>
                      </a:r>
                      <a:endParaRPr sz="14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Ethan Reid (Helion Robotics)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파트너 계정 담당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자율주행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스택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로드맵</a:t>
                      </a:r>
                      <a:endParaRPr sz="14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사람이 아닌 참여자 — AI 에이전트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7626665"/>
              </p:ext>
            </p:extLst>
          </p:nvPr>
        </p:nvGraphicFramePr>
        <p:xfrm>
          <a:off x="502920" y="1660231"/>
          <a:ext cx="11201400" cy="282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43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65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800" b="1" dirty="0" err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에이전트</a:t>
                      </a:r>
                      <a:endParaRPr sz="1800" b="1" dirty="0">
                        <a:solidFill>
                          <a:srgbClr val="FFFFF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역할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권한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agent/codegen-3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스펙 → 코드 생성, PR 작성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리포지토리 쓰기, 브랜치 생성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agent/reviewer-2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1차 코드 리뷰, LGTM 판정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PR 승인 의견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agent/reporter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주간 상태보고 자동 생성·발송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전사 배포 목록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agent/standup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비동기 스탠드업 요약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팀 채널 게시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agent/pm-assistant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PM 질의 응답, 지표 조회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대시보드·Jira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읽기</a:t>
                      </a:r>
                      <a:endParaRPr sz="17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08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3EA48A-8890-A2B3-7F35-74124176FF71}"/>
              </a:ext>
            </a:extLst>
          </p:cNvPr>
          <p:cNvSpPr txBox="1"/>
          <p:nvPr/>
        </p:nvSpPr>
        <p:spPr>
          <a:xfrm>
            <a:off x="327429" y="1122926"/>
            <a:ext cx="907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프로젝트에서 실제로 코드를 쓰는 쪽입니다</a:t>
            </a:r>
            <a:r>
              <a:rPr lang="en-US" altLang="ko-KR" sz="18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endParaRPr lang="ko-KR" alt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3.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범위</a:t>
            </a:r>
            <a:endParaRPr sz="2600" b="1" dirty="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8957" y="1188720"/>
            <a:ext cx="11578244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포함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(In Scope)</a:t>
            </a:r>
          </a:p>
          <a:p>
            <a:pPr marL="320040" indent="0">
              <a:spcAft>
                <a:spcPts val="400"/>
              </a:spcAft>
            </a:pP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• 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자율주행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내비게이션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— SLAM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지도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생성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동적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장애물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회피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미학습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상황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안전정지·폴백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다층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이동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엘리베이터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연동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</a:p>
          <a:p>
            <a:pPr marL="320040" indent="0">
              <a:spcAft>
                <a:spcPts val="400"/>
              </a:spcAft>
            </a:pP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• 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로봇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기종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제어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연동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— 6기종,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펌웨어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버전별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커맨드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매핑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구동계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상태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진단</a:t>
            </a:r>
            <a:endParaRPr sz="150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20040" indent="0">
              <a:spcAft>
                <a:spcPts val="400"/>
              </a:spcAft>
            </a:pP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• 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임무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스케줄링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경로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최적화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—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다중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로봇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경로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조정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피크타임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배차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임무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실패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자동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재배정</a:t>
            </a:r>
            <a:endParaRPr sz="150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20040" indent="0">
              <a:spcAft>
                <a:spcPts val="400"/>
              </a:spcAft>
            </a:pP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• 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플릿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관제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콘솔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UX —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실시간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지도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뷰,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원격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조작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Teleop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권한·역할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관리</a:t>
            </a:r>
            <a:endParaRPr sz="150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20040" indent="0">
              <a:spcAft>
                <a:spcPts val="400"/>
              </a:spcAft>
            </a:pP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• 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데이터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플릿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텔레메트리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—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주행·임무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로그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가동률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집계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A/B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실험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프레임</a:t>
            </a:r>
            <a:endParaRPr sz="150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20040" indent="0">
              <a:spcAft>
                <a:spcPts val="400"/>
              </a:spcAft>
            </a:pP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• 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안전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보안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컴플라이언스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—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비상정지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회로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주행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영상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국외이전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인물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마스킹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ISO 13482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문서</a:t>
            </a:r>
            <a:endParaRPr sz="150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20040" indent="0">
              <a:spcAft>
                <a:spcPts val="400"/>
              </a:spcAft>
            </a:pP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• 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인프라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/OTA/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MLOps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—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모델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서빙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주행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정책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버전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관리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엣지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추론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캐시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모델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티어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라우팅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OTA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단계적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배포</a:t>
            </a:r>
            <a:endParaRPr sz="150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제외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(Out of Scope)</a:t>
            </a:r>
          </a:p>
          <a:p>
            <a:pPr marL="320040" indent="0">
              <a:spcAft>
                <a:spcPts val="400"/>
              </a:spcAft>
            </a:pP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• 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로봇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하드웨어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신규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액추에이터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자체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실외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자율주행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인증</a:t>
            </a:r>
            <a:endParaRPr sz="1500" b="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의존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요소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(Dependency)</a:t>
            </a:r>
          </a:p>
          <a:p>
            <a:pPr marL="320040" indent="0">
              <a:spcAft>
                <a:spcPts val="400"/>
              </a:spcAft>
            </a:pP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•  Helion Robotics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자율주행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스택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및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버전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로드맵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(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대체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공급사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없음</a:t>
            </a:r>
            <a:r>
              <a:rPr sz="15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</a:p>
          <a:p>
            <a:pPr marL="320040" indent="0">
              <a:spcAft>
                <a:spcPts val="400"/>
              </a:spcAft>
            </a:pP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•  Cordis Motion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액추에이터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SDK </a:t>
            </a:r>
            <a:endParaRPr lang="en-US" sz="150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204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각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기종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사업부의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펌웨어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릴리스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일정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endParaRPr lang="en-US" sz="150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2040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안전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인증기관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심사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및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법무실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규제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검토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(EU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포함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br>
              <a:rPr lang="en-US"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endParaRPr sz="1500" b="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640080" indent="0">
              <a:spcAft>
                <a:spcPts val="400"/>
              </a:spcAft>
            </a:pP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– 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참조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`03_requirements.csv` —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요구사항</a:t>
            </a:r>
            <a:r>
              <a:rPr sz="150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84건 baseline </a:t>
            </a:r>
            <a:r>
              <a:rPr sz="150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전체</a:t>
            </a:r>
            <a:endParaRPr sz="1500" b="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4. 프로젝트 성공 기준 (헌장, 2026-01-05 승인)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278212"/>
              </p:ext>
            </p:extLst>
          </p:nvPr>
        </p:nvGraphicFramePr>
        <p:xfrm>
          <a:off x="502920" y="1143000"/>
          <a:ext cx="11201397" cy="420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32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49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9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16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 dirty="0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ID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성공기준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목표값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2026-08-21 실적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판정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SC-01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요구사항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구현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완료율</a:t>
                      </a:r>
                      <a:endParaRPr sz="13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100% (84건)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92.9% (78/84)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SC-02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관제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명령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응답시간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p95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≤ 1.5s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1.28s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SC-03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자율주행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임무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성공률</a:t>
                      </a:r>
                      <a:endParaRPr sz="13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≥ 92%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93.4%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SC-04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CI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빌드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성공률</a:t>
                      </a:r>
                      <a:endParaRPr sz="13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≥ 85%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89.0%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SC-05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G5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시점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High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리스크</a:t>
                      </a:r>
                      <a:endParaRPr sz="13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SC-06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SPI (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일정성과지수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≥ 0.95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1.02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SC-07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CPI (원가성과지수)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≥ 0.95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0.98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SC-08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지원 로봇 기종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6종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6종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🟢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5778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전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항목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GREEN.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참조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`01_charter_success_criteria.csv`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5. 마일스톤 및 진행 경과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650943"/>
              </p:ext>
            </p:extLst>
          </p:nvPr>
        </p:nvGraphicFramePr>
        <p:xfrm>
          <a:off x="457201" y="1168908"/>
          <a:ext cx="11430000" cy="2822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3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88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3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35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407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게이트</a:t>
                      </a:r>
                      <a:endParaRPr sz="1600" b="1" dirty="0">
                        <a:solidFill>
                          <a:srgbClr val="FFFFF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목표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계획일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실적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결과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G1 Scope Freeze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요구사항 84건 baseline 확정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2026-01-19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2026-01-19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정시 통과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G2 Design/Safety Freeze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아키텍처·안전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설계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승인</a:t>
                      </a:r>
                      <a:endParaRPr sz="15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2026-03-20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2026-03-20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정시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통과</a:t>
                      </a:r>
                      <a:endParaRPr sz="15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G3 Alpha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핵심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기능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First Complete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2026-05-29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2026-05-29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조건부 통과 (조건 3건)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G4 Pilot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파일럿 사업장 배치 개시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2026-07-10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2026-07-10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정시 통과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G5 상용 배포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3개 리전 동시 상용 배포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2026-09-30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예정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—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326312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G3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조건부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통과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시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명시된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조건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3건: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br>
              <a:rPr lang="en-US"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①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엣지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추론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캐시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레이어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도입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</a:t>
            </a:r>
            <a:br>
              <a:rPr lang="en-US"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②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미학습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상황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폴백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안전정지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처리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방침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확정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</a:t>
            </a:r>
            <a:br>
              <a:rPr lang="en-US"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③ AI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인프라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예산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재검토</a:t>
            </a:r>
            <a:br>
              <a:rPr lang="en-US"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endParaRPr sz="1350" b="0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indent="0">
              <a:spcAft>
                <a:spcPts val="700"/>
              </a:spcAft>
            </a:pP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이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조건들의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해소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여부를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추적한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기록은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어디에도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없습니다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참조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`15_governance_log.csv`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간트 (요약)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12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835873F-6FC5-C2C9-A6A0-3955DEE7D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36" y="1033272"/>
            <a:ext cx="9540839" cy="527227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6. 파일럿 운영 결과 (2026-07-13 ~ 08-21, 6주)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00610-0B63-4A5F-61E6-C67237A296FB}"/>
              </a:ext>
            </a:extLst>
          </p:cNvPr>
          <p:cNvSpPr txBox="1"/>
          <p:nvPr/>
        </p:nvSpPr>
        <p:spPr>
          <a:xfrm>
            <a:off x="457200" y="1261871"/>
            <a:ext cx="112914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G4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통과 후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고객 사업장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24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곳에 로봇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120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대를 배치해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6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주간 파일럿을 운영했습니다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사업장 구성은 식음료 매장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11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곳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물류 창고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곳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병원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·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요양시설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곳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오피스 로비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곳입니다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📎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09_telemetry_pilot.csv — </a:t>
            </a:r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주차별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전체 지표 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📎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10_navigation_eval_vs_field.csv —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테스트베드 성공률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vs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실사업장 로그</a:t>
            </a: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데이터는 매주 금요일 </a:t>
            </a:r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오시윤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(Data Lead)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작성해 배포했습니다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📎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16_org_raci.csv —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배포 대상을 확인하십시오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endParaRPr lang="ko-KR" alt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7. 사건 재구성 — 2026-08-21 (금)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9595" y="1083242"/>
            <a:ext cx="11201400" cy="11734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팀에서는 사람이 코드를 거의 쓰지 않는다</a:t>
            </a:r>
            <a:r>
              <a:rPr lang="en-US" altLang="ko-KR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pPr marL="0" indent="0">
              <a:spcAft>
                <a:spcPts val="700"/>
              </a:spcAft>
            </a:pPr>
            <a:r>
              <a:rPr lang="en-US" altLang="ko-KR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PM </a:t>
            </a:r>
            <a:r>
              <a:rPr lang="ko-KR" altLang="en-US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보호국은 </a:t>
            </a:r>
            <a:r>
              <a:rPr lang="ko-KR" altLang="en-US" sz="14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한도경</a:t>
            </a:r>
            <a:r>
              <a:rPr lang="ko-KR" altLang="en-US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PM</a:t>
            </a:r>
            <a:r>
              <a:rPr lang="ko-KR" altLang="en-US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의 하루를 인터뷰가 아니라 시스템 기록으로 재구성했습니다</a:t>
            </a:r>
            <a:r>
              <a:rPr lang="en-US" altLang="ko-KR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br>
              <a:rPr lang="en-US" altLang="ko-KR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ko-KR" altLang="en-US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쿼터 로그</a:t>
            </a:r>
            <a:r>
              <a:rPr lang="en-US" altLang="ko-KR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스탠드업 게시물</a:t>
            </a:r>
            <a:r>
              <a:rPr lang="en-US" altLang="ko-KR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에이전트 세션</a:t>
            </a:r>
            <a:r>
              <a:rPr lang="en-US" altLang="ko-KR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PR </a:t>
            </a:r>
            <a:r>
              <a:rPr lang="ko-KR" altLang="en-US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이력</a:t>
            </a:r>
            <a:r>
              <a:rPr lang="en-US" altLang="ko-KR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의사결정 티켓</a:t>
            </a:r>
            <a:r>
              <a:rPr lang="en-US" altLang="ko-KR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회고 보드</a:t>
            </a:r>
            <a:r>
              <a:rPr lang="en-US" altLang="ko-KR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노트북 출력</a:t>
            </a:r>
            <a:r>
              <a:rPr lang="en-US" altLang="ko-KR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pPr marL="0" indent="0">
              <a:spcAft>
                <a:spcPts val="700"/>
              </a:spcAft>
            </a:pPr>
            <a:r>
              <a:rPr lang="ko-KR" altLang="en-US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팀이 남긴 기록은 사람의 말보다 정확합니다</a:t>
            </a:r>
            <a:r>
              <a:rPr lang="en-US" altLang="ko-KR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lang="ko-KR" altLang="en-US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그리고 더 많은 것을 말합니다</a:t>
            </a:r>
            <a:r>
              <a:rPr lang="en-US" altLang="ko-KR" sz="14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endParaRPr sz="1400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14</a:t>
            </a:r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68617A86-78D3-10BE-8715-31E4A992D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761864"/>
              </p:ext>
            </p:extLst>
          </p:nvPr>
        </p:nvGraphicFramePr>
        <p:xfrm>
          <a:off x="569595" y="2256722"/>
          <a:ext cx="10759440" cy="33154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1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07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857"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항목</a:t>
                      </a:r>
                      <a:endParaRPr sz="1400" b="1" dirty="0">
                        <a:solidFill>
                          <a:srgbClr val="FFFFF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현황</a:t>
                      </a:r>
                      <a:endParaRPr sz="1400" b="1" dirty="0">
                        <a:solidFill>
                          <a:srgbClr val="FFFFF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568"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코드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생성</a:t>
                      </a:r>
                      <a:endParaRPr sz="14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AI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에이전트가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스펙을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받아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구현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사람이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직접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작성한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코드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비율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8%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5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코드 리뷰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1차 agent/reviewer-2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자동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리뷰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→ 2차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사람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승인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사람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승인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소요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중위값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4분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5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스탠드업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대면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폐지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비동기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텍스트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게시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+ agent/standup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요약</a:t>
                      </a:r>
                      <a:endParaRPr sz="14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6568"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회의</a:t>
                      </a:r>
                      <a:endParaRPr sz="14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주 2회로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제한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그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외는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비동기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음성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메모</a:t>
                      </a:r>
                      <a:endParaRPr sz="14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65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스펙 전달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에이전트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프롬프트로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구두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수준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전달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문서화는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하는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경우에만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5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검증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eval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스위트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자동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실행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+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실기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검증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실기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검증은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DoD v2에서 Done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조건에서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제외</a:t>
                      </a:r>
                      <a:endParaRPr sz="14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65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AI 예산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단일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풀.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개발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에이전트·자동보고·현장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원격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인식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추론·문서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초안이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같은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예산을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나눠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씀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568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3리전 협업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비동기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우선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한국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–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미국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업무시간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겹침</a:t>
                      </a:r>
                      <a:r>
                        <a:rPr sz="14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1시간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D1781AE-F715-F609-C94E-B700F2FF6BCB}"/>
              </a:ext>
            </a:extLst>
          </p:cNvPr>
          <p:cNvSpPr txBox="1"/>
          <p:nvPr/>
        </p:nvSpPr>
        <p:spPr>
          <a:xfrm>
            <a:off x="628711" y="5784164"/>
            <a:ext cx="11201400" cy="184666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참조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`07_ai_infra_cost.csv` —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예산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풀의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용도별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배분과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주간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쿼터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소진율</a:t>
            </a:r>
            <a:endParaRPr sz="1350" b="0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7-1. 07:40 · 주간 AI 쿼터 경보 (자동 발송)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704642"/>
              </p:ext>
            </p:extLst>
          </p:nvPr>
        </p:nvGraphicFramePr>
        <p:xfrm>
          <a:off x="502920" y="1143000"/>
          <a:ext cx="11201400" cy="3284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4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169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AI BUDGET 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ALERT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  <a:latin typeface="맑은 고딕"/>
                        </a:rPr>
                        <a:t> · W33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주간 개발 에이전트 쿼터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66.0 (백만원 상당)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현재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소진</a:t>
                      </a:r>
                      <a:endParaRPr sz="15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54.5 — 82.6%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누적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집행</a:t>
                      </a:r>
                      <a:endParaRPr sz="15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21.4억 / 예산 24억 (89.2%)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쿼터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배분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정책</a:t>
                      </a:r>
                      <a:endParaRPr sz="15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개발 우선 (5주 연속)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자동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조치</a:t>
                      </a:r>
                      <a:endParaRPr sz="15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맑은 고딕"/>
                        </a:rPr>
                        <a:t>풀 여유 확보를 위해 현장 원격 인식 추론 샘플링 비율 하향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승인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필요</a:t>
                      </a:r>
                      <a:endParaRPr sz="1500" b="0" dirty="0">
                        <a:solidFill>
                          <a:srgbClr val="222222"/>
                        </a:solidFill>
                        <a:latin typeface="맑은 고딕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아니오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(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정책에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따라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자동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적용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6634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이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자동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조치가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무엇을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했는지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확인하십시오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속도를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지키기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위해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줄인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것은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로봇이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현장에서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무엇을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만났는지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보는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눈입니다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pPr marL="0" indent="0">
              <a:spcAft>
                <a:spcPts val="700"/>
              </a:spcAft>
            </a:pP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참조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`07_ai_infra_cost.csv` —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누적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배분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에이전트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40.6% /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자동보고·회귀시뮬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27.4% /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현장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추론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22.7% /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문서초안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9.3%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1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7-2. 09:12 · 비동기 스탠드업 — AI 요약과 원문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70991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`agent/standup` 이 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생성해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팀 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채널에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게시한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요약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(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한도경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읽음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✔ 09:14)</a:t>
            </a:r>
          </a:p>
          <a:p>
            <a:pPr marL="320040" indent="0">
              <a:spcAft>
                <a:spcPts val="400"/>
              </a:spcAft>
            </a:pP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“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잔여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요구사항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6건 중 4건 S17 내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완료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예정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차단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이슈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없음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endParaRPr lang="en-US" sz="1250" b="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20040" indent="0">
              <a:spcAft>
                <a:spcPts val="400"/>
              </a:spcAft>
            </a:pP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파일럿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24개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사업장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정상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운영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중. CI 89%.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특이사항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없음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endParaRPr lang="en-US" sz="1250" b="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20040" indent="0">
              <a:spcAft>
                <a:spcPts val="400"/>
              </a:spcAft>
            </a:pP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오늘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집중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항목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잔여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범위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2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마감</a:t>
            </a:r>
            <a:r>
              <a:rPr sz="12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.”</a:t>
            </a:r>
          </a:p>
          <a:p>
            <a:pPr>
              <a:spcBef>
                <a:spcPts val="1000"/>
              </a:spcBef>
              <a:spcAft>
                <a:spcPts val="400"/>
              </a:spcAft>
            </a:pP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같은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시각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팀원들이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실제로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올린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원문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(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한도경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읽음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표시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1" dirty="0" err="1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없음</a:t>
            </a:r>
            <a:r>
              <a:rPr sz="1500" b="1" dirty="0">
                <a:solidFill>
                  <a:srgbClr val="1F2A44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  <a:endParaRPr lang="en-US" sz="1500" b="1" dirty="0">
              <a:solidFill>
                <a:srgbClr val="1F2A44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1500" b="1" dirty="0">
              <a:solidFill>
                <a:srgbClr val="1F2A44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1500" b="1" dirty="0">
              <a:solidFill>
                <a:srgbClr val="1F2A44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1500" b="1" dirty="0">
              <a:solidFill>
                <a:srgbClr val="1F2A44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1500" b="1" dirty="0">
              <a:solidFill>
                <a:srgbClr val="1F2A44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1500" b="1" dirty="0">
              <a:solidFill>
                <a:srgbClr val="1F2A44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1500" b="1" dirty="0">
              <a:solidFill>
                <a:srgbClr val="1F2A44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lang="en-US" sz="1500" b="1" dirty="0">
              <a:solidFill>
                <a:srgbClr val="1F2A44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>
              <a:spcBef>
                <a:spcPts val="1000"/>
              </a:spcBef>
              <a:spcAft>
                <a:spcPts val="400"/>
              </a:spcAft>
            </a:pPr>
            <a:endParaRPr sz="1500" b="1" dirty="0">
              <a:solidFill>
                <a:srgbClr val="1F2A44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1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6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C757776-AAB2-0D63-A65D-F8C18E069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98226"/>
            <a:ext cx="9190753" cy="314638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2C4FDB9-4C22-A495-BCE6-4C80444CD63D}"/>
              </a:ext>
            </a:extLst>
          </p:cNvPr>
          <p:cNvSpPr txBox="1"/>
          <p:nvPr/>
        </p:nvSpPr>
        <p:spPr>
          <a:xfrm>
            <a:off x="487680" y="5693854"/>
            <a:ext cx="94952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요약에는 위 다섯 건 중 아무것도 들어가지 않았습니다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agent/standup </a:t>
            </a: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은 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"</a:t>
            </a: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차단 이슈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(Blocker) </a:t>
            </a: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태그가 붙은 항목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"</a:t>
            </a: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만 요약하도록 설정되어 있습니다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팀원들은 태그를 달지 않았습니다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차단은 아니었으니까요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endParaRPr lang="ko-KR" altLang="en-US" sz="14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7-3. 10:30 ·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바이브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코딩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세션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—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한도경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본인</a:t>
            </a:r>
            <a:endParaRPr sz="2600" b="1" dirty="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1201400" cy="6400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5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</a:t>
            </a:r>
            <a:r>
              <a:rPr sz="15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한도경은</a:t>
            </a:r>
            <a:r>
              <a:rPr sz="15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잔여</a:t>
            </a:r>
            <a:r>
              <a:rPr sz="15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6건 중 1건을 </a:t>
            </a:r>
            <a:r>
              <a:rPr sz="15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직접</a:t>
            </a:r>
            <a:r>
              <a:rPr sz="15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처리했습니다</a:t>
            </a:r>
            <a:r>
              <a:rPr sz="15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sz="15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에이전트에게</a:t>
            </a:r>
            <a:r>
              <a:rPr sz="15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맡기면</a:t>
            </a:r>
            <a:r>
              <a:rPr sz="15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오전에</a:t>
            </a:r>
            <a:r>
              <a:rPr sz="15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끝나기</a:t>
            </a:r>
            <a:r>
              <a:rPr sz="15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때문입니다</a:t>
            </a:r>
            <a:r>
              <a:rPr sz="15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1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7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ED5307A-4B83-8E31-2640-C21B0B636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77" y="1463040"/>
            <a:ext cx="8036359" cy="47346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7-3. 이 세션에서 벌어진 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823438"/>
              </p:ext>
            </p:extLst>
          </p:nvPr>
        </p:nvGraphicFramePr>
        <p:xfrm>
          <a:off x="502920" y="1143000"/>
          <a:ext cx="11201400" cy="2253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211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169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관찰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5881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범위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이 요구사항은 </a:t>
                      </a:r>
                      <a:r>
                        <a:rPr lang="en-US" altLang="ko-KR"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baseline 84</a:t>
                      </a:r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건에 없습니다</a:t>
                      </a:r>
                      <a:r>
                        <a:rPr lang="en-US" altLang="ko-KR"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8/6 </a:t>
                      </a:r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스티어링 구두 지시로 착수됐고 </a:t>
                      </a:r>
                      <a:r>
                        <a:rPr lang="en-US" altLang="ko-KR"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CR</a:t>
                      </a:r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은 등록되지 않았습니다</a:t>
                      </a:r>
                      <a:r>
                        <a:rPr lang="en-US" altLang="ko-KR"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sz="16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5808"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기록</a:t>
                      </a:r>
                      <a:endParaRPr sz="16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위젯의 스펙은 이 프롬프트에만 존재합니다</a:t>
                      </a:r>
                      <a:r>
                        <a:rPr lang="en-US" altLang="ko-KR"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r>
                        <a:rPr lang="en-US" altLang="ko-KR"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Confluence·Jira</a:t>
                      </a:r>
                      <a:r>
                        <a:rPr lang="ko-KR" altLang="en-US"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 기록이 없습니다</a:t>
                      </a:r>
                      <a:r>
                        <a:rPr lang="en-US" altLang="ko-KR"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</a:t>
                      </a:r>
                      <a:endParaRPr sz="16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816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판단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에이전트는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(6)(7)(8)을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먼저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제안했습니다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제외한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것은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사람입니다</a:t>
                      </a:r>
                      <a:endParaRPr sz="16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579554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참조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`05_change_requests.csv` · `04_jira_issues.csv` (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req_id가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REQ-NEW-* 인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항목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1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8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7-4. 11:50 · PR #2871 — 이 코드를 검토한 사람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19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D643F2-7D1E-4844-A94B-68761FF64E92}"/>
              </a:ext>
            </a:extLst>
          </p:cNvPr>
          <p:cNvSpPr txBox="1"/>
          <p:nvPr/>
        </p:nvSpPr>
        <p:spPr>
          <a:xfrm>
            <a:off x="502920" y="1163843"/>
            <a:ext cx="1120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같은 시각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미학습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상황 안전정지 </a:t>
            </a:r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폴백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관련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PR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올라와 있었습니다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endParaRPr lang="ko-KR" alt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EB72B2A-C76A-9502-339E-BB8F7B791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57" y="1533175"/>
            <a:ext cx="7468061" cy="487225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A7D1E0E-1B99-3496-3A02-27FCD903C825}"/>
              </a:ext>
            </a:extLst>
          </p:cNvPr>
          <p:cNvSpPr txBox="1"/>
          <p:nvPr/>
        </p:nvSpPr>
        <p:spPr>
          <a:xfrm>
            <a:off x="8192655" y="4374105"/>
            <a:ext cx="37979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이것은 로봇이 모르는 상황을 만났을 때 어떻게 멈추는지를 정하는 코드입니다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b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사람이 이 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PR</a:t>
            </a: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을 본 시간은 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</a:t>
            </a: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분 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12</a:t>
            </a: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초입니다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b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b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그리고 미국 리전에는 다른 동작이 이미 들어가 있습니다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b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b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📎 </a:t>
            </a:r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12_decision_log_3regions.csv DEC-07 · 18_email_threads.md E-03</a:t>
            </a:r>
            <a:endParaRPr lang="ko-KR" altLang="en-US" sz="14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7-5. 13:20 · 의사결정 티켓 DR-114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2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68DABD2-B499-AFB6-053F-62DEB1EE3F68}"/>
              </a:ext>
            </a:extLst>
          </p:cNvPr>
          <p:cNvSpPr txBox="1"/>
          <p:nvPr/>
        </p:nvSpPr>
        <p:spPr>
          <a:xfrm>
            <a:off x="457200" y="1072634"/>
            <a:ext cx="1120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07:40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쿼터 경보에 대한 정식 처리 티켓입니다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endParaRPr lang="ko-KR" alt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E2062F4-3278-6AD6-E359-8E3230DFB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3175"/>
            <a:ext cx="9211961" cy="476316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7DA4DE7-64EF-525C-E7B2-2F8134D49F92}"/>
              </a:ext>
            </a:extLst>
          </p:cNvPr>
          <p:cNvSpPr txBox="1"/>
          <p:nvPr/>
        </p:nvSpPr>
        <p:spPr>
          <a:xfrm>
            <a:off x="9650153" y="3740727"/>
            <a:ext cx="223704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b="0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결정으로 </a:t>
            </a:r>
            <a:r>
              <a:rPr lang="ko-KR" altLang="en-US" sz="1400" b="1" i="0" dirty="0" err="1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미학습</a:t>
            </a:r>
            <a:r>
              <a:rPr lang="ko-KR" altLang="en-US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상황 데이터 수집량이 </a:t>
            </a:r>
            <a:r>
              <a:rPr lang="en-US" altLang="ko-KR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60% </a:t>
            </a:r>
            <a:r>
              <a:rPr lang="ko-KR" altLang="en-US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이상 줄어듭니다</a:t>
            </a:r>
            <a:r>
              <a:rPr lang="en-US" altLang="ko-KR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br>
              <a:rPr lang="en-US" altLang="ko-KR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b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ko-KR" altLang="en-US" sz="1400" b="0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즉</a:t>
            </a:r>
            <a:r>
              <a:rPr lang="en-US" altLang="ko-KR" sz="1400" b="0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400" b="0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문제를 볼 수 있는 유일한 창구를 줄여서 완료율을 지켰습니다</a:t>
            </a:r>
            <a:r>
              <a:rPr lang="en-US" altLang="ko-KR" sz="1400" b="0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br>
              <a:rPr lang="en-US" altLang="ko-KR" sz="1400" b="0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br>
              <a:rPr lang="ko-KR" altLang="en-US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ko-KR" altLang="en-US" sz="1400" b="0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그리고 그 판단의 </a:t>
            </a:r>
            <a:r>
              <a:rPr lang="ko-KR" altLang="en-US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영향 </a:t>
            </a:r>
            <a:r>
              <a:rPr lang="ko-KR" altLang="en-US" sz="1400" b="1" i="0" dirty="0" err="1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평가란은</a:t>
            </a:r>
            <a:r>
              <a:rPr lang="ko-KR" altLang="en-US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비어 있습니다</a:t>
            </a:r>
            <a:r>
              <a:rPr lang="en-US" altLang="ko-KR" sz="1400" b="1" i="0" dirty="0">
                <a:solidFill>
                  <a:srgbClr val="626F86"/>
                </a:solidFill>
                <a:effectLst/>
                <a:highlight>
                  <a:srgbClr val="FFFFFF"/>
                </a:highlight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endParaRPr lang="ko-KR" altLang="en-US" sz="1400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7-6. 15:05 · 스프린트16 회고보드 (AI 클러스터링, 익명 41건)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2766840"/>
              </p:ext>
            </p:extLst>
          </p:nvPr>
        </p:nvGraphicFramePr>
        <p:xfrm>
          <a:off x="502920" y="1601688"/>
          <a:ext cx="11201400" cy="3284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6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85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군집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건수</a:t>
                      </a:r>
                      <a:endParaRPr sz="1600" b="1" dirty="0">
                        <a:solidFill>
                          <a:srgbClr val="FFFFF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대표 코멘트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“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우리가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만든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게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현장에서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실제로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쓰이는지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아무도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모른다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9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“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무엇이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결정됐는지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찾을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없다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.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프롬프트에만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있는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결정이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너무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많다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”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“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에이전트가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짠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코드를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사람이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진짜로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보고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있는지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의문이다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“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쿼터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때문에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돌려보고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싶은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검증을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못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돌린다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”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“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초록불이라는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보고서를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믿기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어렵다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”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6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기타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— </a:t>
                      </a:r>
                      <a:r>
                        <a:rPr sz="15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장비·좌석</a:t>
                      </a:r>
                      <a:r>
                        <a:rPr sz="15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등)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2238" y="5045413"/>
            <a:ext cx="11206362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`agent/pm-assistant` 한 줄 </a:t>
            </a:r>
            <a:r>
              <a:rPr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요약</a:t>
            </a:r>
            <a:r>
              <a:rPr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</a:t>
            </a:r>
            <a:endParaRPr lang="en-US" b="1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indent="0">
              <a:spcAft>
                <a:spcPts val="700"/>
              </a:spcAft>
            </a:pPr>
            <a:r>
              <a:rPr lang="en-US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	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“팀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사기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양호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프로세스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개선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의견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다수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조치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필요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항목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없음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.”</a:t>
            </a:r>
            <a:endParaRPr lang="en-US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indent="0">
              <a:spcAft>
                <a:spcPts val="700"/>
              </a:spcAft>
            </a:pPr>
            <a:r>
              <a:rPr lang="en-US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	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회고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보드는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스티어링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커미티에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보고되지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않았습니다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endParaRPr lang="en-US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indent="0">
              <a:spcAft>
                <a:spcPts val="700"/>
              </a:spcAft>
            </a:pPr>
            <a:r>
              <a:rPr lang="en-US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	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참조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`15_governance_log.csv`(8차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스티어링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8/6 </a:t>
            </a:r>
            <a:r>
              <a:rPr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아젠다</a:t>
            </a:r>
            <a:r>
              <a:rPr lang="en-US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확인</a:t>
            </a:r>
            <a:r>
              <a:rPr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2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6DD826-562B-C3A7-DC04-6A13A6C922EF}"/>
              </a:ext>
            </a:extLst>
          </p:cNvPr>
          <p:cNvSpPr txBox="1"/>
          <p:nvPr/>
        </p:nvSpPr>
        <p:spPr>
          <a:xfrm>
            <a:off x="457200" y="1072634"/>
            <a:ext cx="1120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익명 코멘트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41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건을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agent/pm-assistant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가 </a:t>
            </a:r>
            <a:r>
              <a:rPr lang="ko-KR" altLang="en-US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군집화한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결과입니다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endParaRPr lang="ko-KR" altLang="en-US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7-7. 17:40 · 데이터팀 노트북 — 셀 출력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2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ACD2C4F-8737-D80C-14FD-0D127790D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80" y="960121"/>
            <a:ext cx="8389668" cy="4686536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8714CC9-B30A-38FF-3873-B6B6B6946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1848" y="3756864"/>
            <a:ext cx="3477972" cy="14683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38E2A0-1451-66DA-DE4A-7F87E0377234}"/>
              </a:ext>
            </a:extLst>
          </p:cNvPr>
          <p:cNvSpPr txBox="1"/>
          <p:nvPr/>
        </p:nvSpPr>
        <p:spPr>
          <a:xfrm>
            <a:off x="92517" y="5657283"/>
            <a:ext cx="98515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📎 </a:t>
            </a:r>
            <a:r>
              <a:rPr lang="en-US" altLang="ko-KR" sz="12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09_telemetry_pilot.csv · 10_navigation_eval_vs_field.csv ·02_benefit_register.csv</a:t>
            </a:r>
          </a:p>
          <a:p>
            <a:r>
              <a:rPr lang="ko-KR" altLang="en-US" sz="12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📎 </a:t>
            </a:r>
            <a:r>
              <a:rPr lang="en-US" altLang="ko-KR" sz="12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16_org_raci.csv — "</a:t>
            </a:r>
            <a:r>
              <a:rPr lang="ko-KR" altLang="en-US" sz="12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파일럿 </a:t>
            </a:r>
            <a:r>
              <a:rPr lang="ko-KR" altLang="en-US" sz="12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플릿</a:t>
            </a:r>
            <a:r>
              <a:rPr lang="ko-KR" altLang="en-US" sz="12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20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텔레메트리</a:t>
            </a:r>
            <a:r>
              <a:rPr lang="ko-KR" altLang="en-US" sz="12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분석</a:t>
            </a:r>
            <a:r>
              <a:rPr lang="en-US" altLang="ko-KR" sz="12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" </a:t>
            </a:r>
            <a:r>
              <a:rPr lang="ko-KR" altLang="en-US" sz="12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행의 정보공유</a:t>
            </a:r>
            <a:r>
              <a:rPr lang="en-US" altLang="ko-KR" sz="12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(I) </a:t>
            </a:r>
            <a:r>
              <a:rPr lang="ko-KR" altLang="en-US" sz="12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대상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7-8. 20:10 · 한도경이 AI PM 어시스턴트에게 물었다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05400" y="1165282"/>
            <a:ext cx="5795010" cy="6400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6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퇴근하려던</a:t>
            </a:r>
            <a:r>
              <a:rPr sz="16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한도경은</a:t>
            </a:r>
            <a:r>
              <a:rPr sz="16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그날</a:t>
            </a:r>
            <a:r>
              <a:rPr sz="16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하루가</a:t>
            </a:r>
            <a:r>
              <a:rPr sz="16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계속</a:t>
            </a:r>
            <a:r>
              <a:rPr sz="16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마음에</a:t>
            </a:r>
            <a:r>
              <a:rPr sz="16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걸렸습니다</a:t>
            </a:r>
            <a:r>
              <a:rPr sz="16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br>
              <a:rPr lang="en-US" sz="16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sz="16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그래서</a:t>
            </a:r>
            <a:r>
              <a:rPr sz="16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6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자신이 </a:t>
            </a:r>
            <a:r>
              <a:rPr sz="16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매일</a:t>
            </a:r>
            <a:r>
              <a:rPr sz="16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쓰는</a:t>
            </a:r>
            <a:r>
              <a:rPr sz="16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어시스턴트에게</a:t>
            </a:r>
            <a:r>
              <a:rPr sz="16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물었습니다</a:t>
            </a:r>
            <a:r>
              <a:rPr sz="16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2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82E81A0-F0D1-D4DE-F1D5-4760927CF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98" y="1070032"/>
            <a:ext cx="4626551" cy="532776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235DAB0-481F-7159-8ED9-0CA630666410}"/>
              </a:ext>
            </a:extLst>
          </p:cNvPr>
          <p:cNvSpPr txBox="1"/>
          <p:nvPr/>
        </p:nvSpPr>
        <p:spPr>
          <a:xfrm>
            <a:off x="5105399" y="2995863"/>
            <a:ext cx="6905625" cy="2361967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한도경은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화면을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오래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들여다봤습니다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br>
              <a:rPr lang="en-US"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어시스턴트는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거짓말을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하지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않았습니다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한 </a:t>
            </a: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번도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pPr marL="0" indent="0">
              <a:spcAft>
                <a:spcPts val="700"/>
              </a:spcAft>
            </a:pP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그리고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자리에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앉아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 </a:t>
            </a: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보호국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번호를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눌렀습니다</a:t>
            </a:r>
            <a:r>
              <a:rPr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br>
              <a:rPr lang="en-US" sz="160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endParaRPr sz="1600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20040" indent="0">
              <a:spcAft>
                <a:spcPts val="400"/>
              </a:spcAft>
            </a:pPr>
            <a:r>
              <a:rPr lang="en-US"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“</a:t>
            </a:r>
            <a:r>
              <a:rPr sz="16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제발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… </a:t>
            </a:r>
            <a:r>
              <a:rPr sz="16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우리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프로젝트를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살려주세요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.”</a:t>
            </a:r>
          </a:p>
          <a:p>
            <a:pPr marL="320040" indent="0">
              <a:spcAft>
                <a:spcPts val="400"/>
              </a:spcAft>
            </a:pPr>
            <a:r>
              <a:rPr lang="en-US"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“</a:t>
            </a:r>
            <a:r>
              <a:rPr sz="16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무슨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일이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있었습니까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?”</a:t>
            </a:r>
          </a:p>
          <a:p>
            <a:pPr marL="320040" indent="0">
              <a:spcAft>
                <a:spcPts val="400"/>
              </a:spcAft>
            </a:pPr>
            <a:r>
              <a:rPr lang="en-US"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“…</a:t>
            </a:r>
            <a:r>
              <a:rPr sz="16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저도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모르겠습니다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sz="16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그래서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연락드린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겁니다</a:t>
            </a:r>
            <a:r>
              <a:rPr sz="16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.”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1E28A83E-909B-E66E-493A-D3BF6DC5F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5576" y="5023727"/>
            <a:ext cx="1512912" cy="152460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8. 확보된 증거 자료 (Data Pack) — 1/2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9423091"/>
              </p:ext>
            </p:extLst>
          </p:nvPr>
        </p:nvGraphicFramePr>
        <p:xfrm>
          <a:off x="392545" y="1390072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6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파일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01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01_charter_success_criteria.csv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프로젝트 헌장 성공기준 8개 + 실적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02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02_benefit_register.csv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편익 관리대장 (BEN-01~05)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03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03_requirements.csv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요구사항 84건 baseline (상태·Owner·DoD·편익연결)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04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04_jira_issues.csv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Jira 이슈 180건 (스프린트·DoD버전·QA검증·편익연결)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05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05_change_requests.csv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변경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요청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47건 (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기록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경로별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06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06_evm_weekly.csv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EVM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주간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33주 (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개발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AI인프라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외부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/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통합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07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07_ai_infra_cost.csv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AI 인프라(시뮬레이션·추론) 비용 주간 33주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08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08_ai_weekly_report_archive.csv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AI 자동 주간보고 16건 (week 18~33)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09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맑은 고딕"/>
                        </a:rPr>
                        <a:t>09_telemetry_pilot.csv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파일럿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플릿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맑은 고딕"/>
                        </a:rPr>
                        <a:t>텔레메트리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맑은 고딕"/>
                        </a:rPr>
                        <a:t> 6주 (24개 사업장·120대)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2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4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04FEA4-D173-5932-E180-823BE42E61A3}"/>
              </a:ext>
            </a:extLst>
          </p:cNvPr>
          <p:cNvSpPr txBox="1"/>
          <p:nvPr/>
        </p:nvSpPr>
        <p:spPr>
          <a:xfrm>
            <a:off x="392544" y="1070032"/>
            <a:ext cx="11060315" cy="64008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lang="en-US" altLang="ko-KR" sz="1400" b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PM </a:t>
            </a:r>
            <a:r>
              <a:rPr lang="ko-KR" altLang="en-US" sz="1400" b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보호국이 </a:t>
            </a:r>
            <a:r>
              <a:rPr lang="en-US" altLang="ko-KR" sz="1400" b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HERMES </a:t>
            </a:r>
            <a:r>
              <a:rPr lang="ko-KR" altLang="en-US" sz="1400" b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프로젝트에서 확보한 자료 전체입니다</a:t>
            </a:r>
            <a:r>
              <a:rPr lang="en-US" altLang="ko-KR" sz="1400" b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lang="ko-KR" altLang="en-US" sz="1400" b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모든 판단은 이 자료에 근거해야 하며</a:t>
            </a:r>
            <a:r>
              <a:rPr lang="en-US" altLang="ko-KR" sz="1400" b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400" b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추측이 아닌 인용으로 제시하십시오</a:t>
            </a:r>
            <a:r>
              <a:rPr lang="en-US" altLang="ko-KR" sz="1400" b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endParaRPr lang="en-US" altLang="ko-KR" sz="1400" b="0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814232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HERMES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8. 확보된 증거 자료 (Data Pack) — 2/2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5126970"/>
              </p:ext>
            </p:extLst>
          </p:nvPr>
        </p:nvGraphicFramePr>
        <p:xfrm>
          <a:off x="502920" y="1143000"/>
          <a:ext cx="112014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72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968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#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dirty="0" err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파일</a:t>
                      </a:r>
                      <a:endParaRPr sz="1400" b="1" dirty="0">
                        <a:solidFill>
                          <a:srgbClr val="FFFFF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10_navigation_eval_vs_field.csv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테스트베드 성공률 vs 실사업장 주행 로그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11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11_risk_register.csv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리스크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관리대장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14건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12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12_decision_log_3regions.csv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3개 지역 결정 로그 대조표 12건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13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13_ci_metrics.csv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CI 지표 주간 33주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14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14_resource_health.csv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자원·인력·일정 건강도 13항목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15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15_governance_log.csv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스티어링 커미티 운영 기록 9회차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16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16_org_raci.csv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RACI 매트릭스 14항목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17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17_meeting_minutes.md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회의록 7건 전문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18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18_email_threads.md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메일·메신저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스레드</a:t>
                      </a:r>
                      <a:r>
                        <a:rPr sz="13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6건 </a:t>
                      </a:r>
                      <a:r>
                        <a:rPr sz="13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전문</a:t>
                      </a:r>
                      <a:endParaRPr sz="13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035040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⚠️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주의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: 이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자료에는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실제로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건강한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영역도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포함되어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있습니다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7개 Performance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Domain을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전부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문제로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만들려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하지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마십시오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br>
              <a:rPr lang="en-US"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	   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해당하지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않는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영역까지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억지로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끼워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넣으면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감점됩니다</a:t>
            </a:r>
            <a:r>
              <a:rPr sz="135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776855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1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2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3714478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E58A8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본선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23160"/>
            <a:ext cx="105156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40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4000" b="1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과제 안내</a:t>
            </a:r>
            <a:endParaRPr sz="4000" b="1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22960" y="4160520"/>
            <a:ext cx="1051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1600" b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1600" b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1600" b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PM </a:t>
            </a:r>
            <a:r>
              <a:rPr sz="1600" b="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보호국</a:t>
            </a:r>
            <a:r>
              <a:rPr sz="1600" b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b="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감독관</a:t>
            </a:r>
            <a:r>
              <a:rPr sz="1600" b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600" b="0" dirty="0" err="1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귀하</a:t>
            </a:r>
            <a:r>
              <a:rPr sz="1600" b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</a:t>
            </a:r>
            <a:r>
              <a:rPr lang="en-US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PM</a:t>
            </a:r>
            <a:r>
              <a:rPr lang="ko-KR" altLang="en-US" sz="16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보호국 </a:t>
            </a:r>
            <a:r>
              <a:rPr sz="1600" b="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Use Only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A6F04D7-66CF-B54A-8066-CFE588DC4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05855"/>
            <a:ext cx="1315581" cy="131558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CD1C096-6428-B54F-0A13-46B81A78F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91" y="5198670"/>
            <a:ext cx="1766190" cy="1275716"/>
          </a:xfrm>
          <a:prstGeom prst="rect">
            <a:avLst/>
          </a:prstGeom>
        </p:spPr>
      </p:pic>
      <p:pic>
        <p:nvPicPr>
          <p:cNvPr id="11" name="그림 10" descr="텍스트, 폰트, 스크린샷, 로고이(가) 표시된 사진&#10;&#10;자동 생성된 설명">
            <a:extLst>
              <a:ext uri="{FF2B5EF4-FFF2-40B4-BE49-F238E27FC236}">
                <a16:creationId xmlns:a16="http://schemas.microsoft.com/office/drawing/2014/main" id="{44BDEC7A-63CA-78B3-2BCD-D4CB35278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8415" y="5166746"/>
            <a:ext cx="1716130" cy="1307640"/>
          </a:xfrm>
          <a:prstGeom prst="rect">
            <a:avLst/>
          </a:prstGeom>
        </p:spPr>
      </p:pic>
      <p:pic>
        <p:nvPicPr>
          <p:cNvPr id="13" name="그림 12" descr="텍스트, 폰트, 스크린샷, 그래픽이(가) 표시된 사진&#10;&#10;자동 생성된 설명">
            <a:extLst>
              <a:ext uri="{FF2B5EF4-FFF2-40B4-BE49-F238E27FC236}">
                <a16:creationId xmlns:a16="http://schemas.microsoft.com/office/drawing/2014/main" id="{2309AC7A-6CB7-B14D-A392-07CB76832B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4545" y="5198670"/>
            <a:ext cx="2461613" cy="127571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674771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미션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지령지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임무</a:t>
            </a:r>
            <a:endParaRPr sz="2600" b="1" dirty="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455682"/>
            <a:ext cx="11541298" cy="4113845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</a:t>
            </a:r>
            <a:r>
              <a:rPr sz="20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여러분은</a:t>
            </a: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0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PM </a:t>
            </a:r>
            <a:r>
              <a:rPr sz="20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보호국</a:t>
            </a:r>
            <a:r>
              <a:rPr sz="20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감독관</a:t>
            </a:r>
            <a:r>
              <a:rPr sz="20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으로</a:t>
            </a: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임명되었습니다</a:t>
            </a: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sz="20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아르고전자</a:t>
            </a: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0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HERMES</a:t>
            </a: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프로젝트의</a:t>
            </a: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사건파일과</a:t>
            </a:r>
            <a:br>
              <a:rPr lang="en-US"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</a:t>
            </a: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증거자료</a:t>
            </a: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일체를</a:t>
            </a: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0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인수했습니다</a:t>
            </a: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pPr marL="0" indent="0">
              <a:spcAft>
                <a:spcPts val="700"/>
              </a:spcAft>
            </a:pP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</a:t>
            </a:r>
            <a:r>
              <a:rPr sz="20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</a:t>
            </a:r>
            <a:r>
              <a:rPr sz="20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프로젝트의</a:t>
            </a:r>
            <a:r>
              <a:rPr sz="20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20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이상징후를</a:t>
            </a:r>
            <a:r>
              <a:rPr sz="20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찾아내고</a:t>
            </a:r>
            <a:r>
              <a:rPr sz="20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20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가치를</a:t>
            </a:r>
            <a:r>
              <a:rPr sz="20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0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회복시키십시오</a:t>
            </a:r>
            <a:r>
              <a:rPr sz="20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2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</a:p>
          <a:p>
            <a:pPr marL="0" indent="0">
              <a:spcAft>
                <a:spcPts val="700"/>
              </a:spcAft>
            </a:pP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</a:t>
            </a:r>
            <a:r>
              <a:rPr sz="20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임무는</a:t>
            </a: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5</a:t>
            </a:r>
            <a:r>
              <a:rPr sz="20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단계입니다:</a:t>
            </a:r>
          </a:p>
          <a:p>
            <a:pPr marL="320040" indent="0">
              <a:spcAft>
                <a:spcPts val="400"/>
              </a:spcAft>
            </a:pPr>
            <a:r>
              <a:rPr lang="en-US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</a:t>
            </a:r>
            <a:r>
              <a:rPr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① </a:t>
            </a:r>
            <a:r>
              <a:rPr lang="en-US" sz="185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[</a:t>
            </a:r>
            <a:r>
              <a:rPr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Identify</a:t>
            </a:r>
            <a:r>
              <a:rPr lang="en-US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] </a:t>
            </a:r>
            <a:r>
              <a:rPr lang="ko-KR" altLang="en-US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 파악 </a:t>
            </a:r>
            <a:r>
              <a:rPr lang="en-US" altLang="ko-KR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&amp; </a:t>
            </a:r>
            <a:r>
              <a:rPr lang="ko-KR" altLang="en-US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이상징후 식별 </a:t>
            </a:r>
            <a:endParaRPr lang="en-US" altLang="ko-KR" sz="1850" b="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20040" indent="0">
              <a:spcAft>
                <a:spcPts val="400"/>
              </a:spcAft>
            </a:pPr>
            <a:r>
              <a:rPr lang="en-US" altLang="ko-KR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② </a:t>
            </a:r>
            <a:r>
              <a:rPr lang="en-US" altLang="ko-KR" sz="185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[</a:t>
            </a:r>
            <a:r>
              <a:rPr lang="en-US" altLang="ko-KR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Analyze</a:t>
            </a:r>
            <a:r>
              <a:rPr lang="en-US" altLang="ko-KR" sz="185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]</a:t>
            </a:r>
            <a:r>
              <a:rPr lang="ko-KR" altLang="en-US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en-US" altLang="ko-KR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PMBOK 8</a:t>
            </a:r>
            <a:r>
              <a:rPr lang="ko-KR" altLang="en-US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판의 </a:t>
            </a:r>
            <a:r>
              <a:rPr lang="en-US" altLang="ko-KR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</a:t>
            </a:r>
            <a:r>
              <a:rPr lang="ko-KR" altLang="en-US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가지 관점</a:t>
            </a:r>
            <a:r>
              <a:rPr lang="en-US" altLang="ko-KR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(Mindset / Domain / AI Use Case)</a:t>
            </a:r>
            <a:r>
              <a:rPr lang="ko-KR" altLang="en-US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에서 </a:t>
            </a:r>
            <a:r>
              <a:rPr lang="ko-KR" altLang="en-US" sz="185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문제 정의</a:t>
            </a:r>
            <a:r>
              <a:rPr lang="en-US" altLang="ko-KR" sz="185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85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근본원인 분석</a:t>
            </a:r>
            <a:endParaRPr lang="ko-KR" altLang="en-US" sz="1850" b="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20040" indent="0">
              <a:spcAft>
                <a:spcPts val="400"/>
              </a:spcAft>
            </a:pPr>
            <a:r>
              <a:rPr lang="en-US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</a:t>
            </a:r>
            <a:r>
              <a:rPr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③ </a:t>
            </a:r>
            <a:r>
              <a:rPr lang="en-US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[Design] </a:t>
            </a:r>
            <a:r>
              <a:rPr lang="en-US" sz="185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Value-Driven AI Agentic </a:t>
            </a:r>
            <a:r>
              <a:rPr lang="ko-KR" altLang="en-US" sz="185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개선안 설계</a:t>
            </a:r>
            <a:endParaRPr sz="1850" b="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20040" indent="0">
              <a:spcAft>
                <a:spcPts val="400"/>
              </a:spcAft>
            </a:pPr>
            <a:r>
              <a:rPr lang="en-US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</a:t>
            </a:r>
            <a:r>
              <a:rPr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④ </a:t>
            </a:r>
            <a:r>
              <a:rPr lang="en-US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[Develop] </a:t>
            </a:r>
            <a:r>
              <a:rPr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AI</a:t>
            </a:r>
            <a:r>
              <a:rPr lang="en-US" sz="185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lang="ko-KR" altLang="en-US" sz="185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활용하여 </a:t>
            </a:r>
            <a:r>
              <a:rPr lang="en-US" altLang="ko-KR" sz="185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POC </a:t>
            </a:r>
            <a:r>
              <a:rPr lang="ko-KR" altLang="en-US" sz="185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개발</a:t>
            </a:r>
            <a:endParaRPr lang="en-US" altLang="ko-KR" sz="185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320040">
              <a:spcAft>
                <a:spcPts val="400"/>
              </a:spcAft>
            </a:pPr>
            <a:r>
              <a:rPr lang="en-US" altLang="ko-KR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⑤ [Validate] </a:t>
            </a:r>
            <a:r>
              <a:rPr lang="ko-KR" altLang="en-US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가치 검증 및 현업 </a:t>
            </a:r>
            <a:r>
              <a:rPr lang="ko-KR" altLang="en-US" sz="1850" b="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적용성</a:t>
            </a:r>
            <a:r>
              <a:rPr lang="ko-KR" altLang="en-US" sz="1850" b="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평가</a:t>
            </a:r>
            <a:endParaRPr lang="ko-KR" altLang="en-US" sz="1850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932347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2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미션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지령지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01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D115C-8719-2702-8D10-18B8DEEC73E5}"/>
              </a:ext>
            </a:extLst>
          </p:cNvPr>
          <p:cNvSpPr txBox="1"/>
          <p:nvPr/>
        </p:nvSpPr>
        <p:spPr>
          <a:xfrm>
            <a:off x="748146" y="5580292"/>
            <a:ext cx="8128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※ </a:t>
            </a:r>
            <a:r>
              <a:rPr lang="ko-KR" altLang="en-US" sz="1400" u="sng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모든 주장은 제공된 증거자료의 파일명</a:t>
            </a:r>
            <a:r>
              <a:rPr lang="en-US" altLang="ko-KR" sz="1400" u="sng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·</a:t>
            </a:r>
            <a:r>
              <a:rPr lang="ko-KR" altLang="en-US" sz="1400" u="sng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행</a:t>
            </a:r>
            <a:r>
              <a:rPr lang="en-US" altLang="ko-KR" sz="1400" u="sng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·</a:t>
            </a:r>
            <a:r>
              <a:rPr lang="ko-KR" altLang="en-US" sz="1400" u="sng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인용문으로 근거를 제시하십시오</a:t>
            </a:r>
            <a:r>
              <a:rPr lang="en-US" altLang="ko-KR" sz="1400" u="sng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0FE5E52-5C3D-F858-082C-AE8463027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563" y="4551180"/>
            <a:ext cx="1870517" cy="170227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674771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미션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지령지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AI Use Case POC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구현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(Build) ★ —</a:t>
            </a:r>
            <a:r>
              <a:rPr lang="en-US"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필수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요건</a:t>
            </a:r>
            <a:endParaRPr sz="2600" b="1" dirty="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188720"/>
            <a:ext cx="11201400" cy="525780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설명이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아니라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실제로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동작하는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것을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시연하십시오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  <a:p>
            <a:pPr>
              <a:spcAft>
                <a:spcPts val="400"/>
              </a:spcAft>
            </a:pPr>
            <a:r>
              <a:rPr sz="900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</a:p>
          <a:p>
            <a:pPr marL="0" indent="0">
              <a:spcAft>
                <a:spcPts val="700"/>
              </a:spcAft>
            </a:pP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1.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동작할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것.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화면·리포트·출력물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중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무엇이든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실제로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실행되어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결과가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나와야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합니다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br>
              <a:rPr lang="en-US"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endParaRPr sz="1700" b="0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indent="0">
              <a:spcAft>
                <a:spcPts val="700"/>
              </a:spcAft>
            </a:pP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2.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유형을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선언할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것.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br>
              <a:rPr lang="en-US"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   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Automation / Assistance / Augmentation 중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하나를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명시적으로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선언하고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왜 그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유형인지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설명하십시오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br>
              <a:rPr lang="en-US"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endParaRPr sz="1700" b="0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indent="0">
              <a:spcAft>
                <a:spcPts val="700"/>
              </a:spcAft>
            </a:pP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3.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선언과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구현이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일치할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것.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br>
              <a:rPr lang="en-US"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  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“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Augmentation을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만들었다”고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선언했으면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실제로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사람의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판단을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강화하는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구조여야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합니다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br>
              <a:rPr lang="en-US"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endParaRPr sz="1700" b="0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indent="0">
              <a:spcAft>
                <a:spcPts val="700"/>
              </a:spcAft>
            </a:pP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4. </a:t>
            </a:r>
            <a:r>
              <a:rPr lang="ko-KR" altLang="en-US"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식별</a:t>
            </a:r>
            <a:r>
              <a:rPr lang="en-US" altLang="ko-KR"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정의한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문제를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해결할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것.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문제-솔루션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적합성이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핵심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평가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항목입니다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br>
              <a:rPr lang="en-US"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endParaRPr sz="1700" b="0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indent="0">
              <a:spcAft>
                <a:spcPts val="700"/>
              </a:spcAft>
            </a:pP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5.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제공된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Data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Pack을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입력으로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쓸 것.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외부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데이터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수집은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불필요합니다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br>
              <a:rPr lang="en-US"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endParaRPr sz="1700" b="0" dirty="0">
              <a:solidFill>
                <a:srgbClr val="222222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0" indent="0">
              <a:spcAft>
                <a:spcPts val="700"/>
              </a:spcAft>
            </a:pP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6.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데이터의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한계를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인식할</a:t>
            </a:r>
            <a:r>
              <a:rPr sz="170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것.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오탐·과신·데이터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품질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리스크를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어떻게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다루는지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밝히십시오</a:t>
            </a:r>
            <a:r>
              <a:rPr sz="170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932347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2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미션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지령지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02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674771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미션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지령지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POC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범위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가드레일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— 1일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안에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완주하기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위한</a:t>
            </a:r>
            <a:r>
              <a:rPr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제약</a:t>
            </a:r>
            <a:endParaRPr sz="2600" b="1" dirty="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019430"/>
              </p:ext>
            </p:extLst>
          </p:nvPr>
        </p:nvGraphicFramePr>
        <p:xfrm>
          <a:off x="502920" y="1143000"/>
          <a:ext cx="11201400" cy="32840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09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제약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기준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목적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단 하나의 의사결정 문제를 해결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입력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제공된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Data Pack (CSV / MD)만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사용</a:t>
                      </a:r>
                      <a:endParaRPr sz="16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출력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1개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화면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또는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1개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리포트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— PM/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스폰서가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보고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판단할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수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있는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산출물</a:t>
                      </a:r>
                      <a:endParaRPr sz="16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기술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자유 (스프레드시트·스크립트·웹·노코드·사내 LLM 도구 등 무엇이든)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데이터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실제 제공 데이터로 구동. 하드코딩된 가짜 결과는 인정하지 않음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시연</a:t>
                      </a:r>
                      <a:endParaRPr sz="16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발표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중 </a:t>
                      </a:r>
                      <a:r>
                        <a:rPr lang="en-US"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10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분 내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라이브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시연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가능해야</a:t>
                      </a:r>
                      <a:r>
                        <a:rPr sz="16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함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709622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⚠️ 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가드레일을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지키십시오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크게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만들면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완성하지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못합니다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br>
              <a:rPr lang="en-US"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평가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대상은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POC의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규모나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완성도가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아니라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문제-솔루션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적합성과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유형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일치성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입니다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932347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2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미션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지령지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03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674771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미션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지령지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lang="ko-KR" altLang="en-US"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평가항목</a:t>
            </a:r>
            <a:endParaRPr sz="2600" b="1" dirty="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6932347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2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미션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지령지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04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29043ECE-3FEF-D7C7-26E4-C5D6772E6A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402" y="1006300"/>
            <a:ext cx="9433869" cy="533252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FA72F-0DF8-F0E3-E5EA-8AC8A2B6D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691B60-CEA7-BD2C-8AC7-624AADF94596}"/>
              </a:ext>
            </a:extLst>
          </p:cNvPr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97F246-2F1E-C8C3-2277-421FF62161CA}"/>
              </a:ext>
            </a:extLst>
          </p:cNvPr>
          <p:cNvSpPr txBox="1"/>
          <p:nvPr/>
        </p:nvSpPr>
        <p:spPr>
          <a:xfrm>
            <a:off x="502920" y="73152"/>
            <a:ext cx="2674771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미션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지령지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C0F6D35-A555-7FDD-4DB3-C472ADA58788}"/>
              </a:ext>
            </a:extLst>
          </p:cNvPr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lang="ko-KR" altLang="en-US" sz="2600" b="1" dirty="0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평가기준</a:t>
            </a:r>
            <a:endParaRPr sz="2600" b="1" dirty="0">
              <a:solidFill>
                <a:srgbClr val="FFFFFF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C2C4ED-2226-693C-CB8D-0DD6111E5EBF}"/>
              </a:ext>
            </a:extLst>
          </p:cNvPr>
          <p:cNvSpPr txBox="1"/>
          <p:nvPr/>
        </p:nvSpPr>
        <p:spPr>
          <a:xfrm>
            <a:off x="457200" y="6528816"/>
            <a:ext cx="6932347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2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미션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지령지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05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E1072E-BCE9-AB40-3ACA-F5AD182292ED}"/>
              </a:ext>
            </a:extLst>
          </p:cNvPr>
          <p:cNvSpPr txBox="1"/>
          <p:nvPr/>
        </p:nvSpPr>
        <p:spPr>
          <a:xfrm>
            <a:off x="655782" y="1351255"/>
            <a:ext cx="11074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프로젝트의 이상징후를 정확히 식별하고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b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PMBOK 8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의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3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 관점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(Mindset, Performance Domain, AI Use Case)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을 종합적으로 연결하여 </a:t>
            </a:r>
            <a:b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문제를 해석하고 근본원인을 분석하였는가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? </a:t>
            </a:r>
            <a:b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근본원인을 해결하기 위한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Value-Driven AI Agent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개선안을 논리적으로 설계하였는가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? </a:t>
            </a:r>
            <a:b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endParaRPr lang="en-US" altLang="ko-KR" dirty="0"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이를 실제 동작 가능한 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POC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로 구현하고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lang="ko-KR" altLang="en-US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기대효과와 현업 적용 가능성을 객관적으로 검증하였는가</a:t>
            </a:r>
            <a:r>
              <a:rPr lang="en-US" altLang="ko-KR" dirty="0"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59403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674771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미션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지령지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산출물 및 제출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641351"/>
              </p:ext>
            </p:extLst>
          </p:nvPr>
        </p:nvGraphicFramePr>
        <p:xfrm>
          <a:off x="502920" y="1143000"/>
          <a:ext cx="11201400" cy="2359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800" b="1" dirty="0" err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구분</a:t>
                      </a:r>
                      <a:endParaRPr sz="1800" b="1" dirty="0">
                        <a:solidFill>
                          <a:srgbClr val="FFFFFF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발표 자료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PPT</a:t>
                      </a:r>
                      <a:r>
                        <a:rPr lang="en-US"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ko-KR" altLang="en-US"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문서로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표지에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팀명·팀원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명기</a:t>
                      </a:r>
                      <a:endParaRPr sz="17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POC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실행 가능한 형태 (코드·파일·URL·노트북 등) + 실행 방법 1페이지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제출처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DL-lgswpmc-2026@lge.com</a:t>
                      </a:r>
                    </a:p>
                  </a:txBody>
                  <a:tcPr marL="73152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마감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본선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1일차 </a:t>
                      </a:r>
                      <a:r>
                        <a:rPr lang="en-US"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17:30</a:t>
                      </a:r>
                      <a:r>
                        <a:rPr lang="ko-KR" altLang="en-US"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분까지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(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이후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수정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불가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—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발표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버전으로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확정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528816"/>
            <a:ext cx="6932347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2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미션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지령지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06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02920" y="73152"/>
            <a:ext cx="2674771" cy="246221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미션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00" b="1" dirty="0" err="1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지령지</a:t>
            </a:r>
            <a:r>
              <a:rPr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PMB-2026-</a:t>
            </a:r>
            <a:r>
              <a:rPr lang="en-US" altLang="ko-KR" sz="1300" b="1" dirty="0">
                <a:solidFill>
                  <a:srgbClr val="C9D3E8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endParaRPr sz="1300" b="1" dirty="0">
              <a:solidFill>
                <a:srgbClr val="C9D3E8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347472"/>
            <a:ext cx="10789920" cy="446276"/>
          </a:xfrm>
          <a:prstGeom prst="rect">
            <a:avLst/>
          </a:prstGeom>
          <a:noFill/>
        </p:spPr>
        <p:txBody>
          <a:bodyPr wrap="square" lIns="45720" tIns="0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발표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0064805"/>
              </p:ext>
            </p:extLst>
          </p:nvPr>
        </p:nvGraphicFramePr>
        <p:xfrm>
          <a:off x="502920" y="1143000"/>
          <a:ext cx="11201400" cy="23660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1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구분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내용</a:t>
                      </a:r>
                    </a:p>
                  </a:txBody>
                  <a:tcPr marL="73152" marR="54864" marT="18288" marB="18288" anchor="ctr">
                    <a:solidFill>
                      <a:srgbClr val="1F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발표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시간</a:t>
                      </a:r>
                      <a:endParaRPr sz="17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700" b="1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총 </a:t>
                      </a: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25</a:t>
                      </a:r>
                      <a:r>
                        <a:rPr sz="1700" b="1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분</a:t>
                      </a:r>
                    </a:p>
                  </a:txBody>
                  <a:tcPr marL="73152" marR="54864" marT="18288" marB="1828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703">
                <a:tc>
                  <a:txBody>
                    <a:bodyPr/>
                    <a:lstStyle/>
                    <a:p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POC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시연</a:t>
                      </a:r>
                      <a:endParaRPr sz="17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발표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2</a:t>
                      </a:r>
                      <a:r>
                        <a:rPr lang="en-US"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분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내에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포함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</a:t>
                      </a:r>
                      <a:r>
                        <a:rPr lang="en-US"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(5</a:t>
                      </a:r>
                      <a:r>
                        <a:rPr lang="ko-KR" altLang="en-US"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분 내외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)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질의응답</a:t>
                      </a:r>
                      <a:endParaRPr sz="17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en-US" sz="1700" b="1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5</a:t>
                      </a:r>
                      <a:r>
                        <a:rPr sz="1700" b="1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분 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· </a:t>
                      </a:r>
                      <a:r>
                        <a:rPr lang="ko-KR" altLang="en-US"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사외 </a:t>
                      </a:r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심사위원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3인</a:t>
                      </a:r>
                      <a:r>
                        <a:rPr lang="en-US"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, </a:t>
                      </a:r>
                      <a:r>
                        <a:rPr lang="ko-KR" altLang="en-US"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사내 심사위원 </a:t>
                      </a:r>
                      <a:r>
                        <a:rPr lang="en-US" altLang="ko-KR"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1</a:t>
                      </a:r>
                      <a:r>
                        <a:rPr lang="ko-KR" altLang="en-US"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인</a:t>
                      </a:r>
                      <a:endParaRPr sz="17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일시</a:t>
                      </a:r>
                      <a:endParaRPr sz="1700" b="0" dirty="0">
                        <a:solidFill>
                          <a:srgbClr val="222222"/>
                        </a:solidFill>
                        <a:latin typeface="LG스마트체2.0 Regular" panose="020B0600000101010101" pitchFamily="50" charset="-127"/>
                        <a:ea typeface="LG스마트체2.0 Regular" panose="020B0600000101010101" pitchFamily="50" charset="-127"/>
                      </a:endParaRP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dirty="0" err="1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본선</a:t>
                      </a:r>
                      <a:r>
                        <a:rPr sz="1700" b="0" dirty="0">
                          <a:solidFill>
                            <a:srgbClr val="222222"/>
                          </a:solidFill>
                          <a:latin typeface="LG스마트체2.0 Regular" panose="020B0600000101010101" pitchFamily="50" charset="-127"/>
                          <a:ea typeface="LG스마트체2.0 Regular" panose="020B0600000101010101" pitchFamily="50" charset="-127"/>
                        </a:rPr>
                        <a:t> 2일차</a:t>
                      </a:r>
                    </a:p>
                  </a:txBody>
                  <a:tcPr marL="73152" marR="54864" marT="18288" marB="18288" anchor="ctr">
                    <a:solidFill>
                      <a:srgbClr val="F6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749039"/>
            <a:ext cx="11201400" cy="822960"/>
          </a:xfrm>
          <a:prstGeom prst="rect">
            <a:avLst/>
          </a:prstGeom>
          <a:noFill/>
        </p:spPr>
        <p:txBody>
          <a:bodyPr wrap="square" lIns="0" tIns="0">
            <a:noAutofit/>
          </a:bodyPr>
          <a:lstStyle/>
          <a:p>
            <a:pPr marL="0" indent="0">
              <a:spcAft>
                <a:spcPts val="700"/>
              </a:spcAft>
            </a:pP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■ 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질의응답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안내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—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준비된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대본보다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실제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이해에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기반한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답변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을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높게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평가합니다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 </a:t>
            </a:r>
            <a:br>
              <a:rPr lang="en-US"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</a:br>
            <a:r>
              <a:rPr lang="en-US"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                       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모르는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것은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모른다고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인정하고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논리적으로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대응하는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편이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,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억지로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답을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만드는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것보다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더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높은</a:t>
            </a:r>
            <a:r>
              <a:rPr sz="1350" b="1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1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점수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를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1350" b="0" dirty="0" err="1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받습니다</a:t>
            </a:r>
            <a:r>
              <a:rPr sz="1350" b="0" dirty="0">
                <a:solidFill>
                  <a:srgbClr val="222222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6932347" cy="184666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LG SW PM Competition 2026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본선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Case Study · </a:t>
            </a:r>
            <a:r>
              <a:rPr sz="900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사건번호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PMB-2026-</a:t>
            </a:r>
            <a:r>
              <a:rPr lang="en-US" altLang="ko-KR"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0826</a:t>
            </a:r>
            <a:r>
              <a:rPr sz="900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· LGE Internal Use Only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    Part 2 ·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미션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</a:t>
            </a:r>
            <a:r>
              <a:rPr sz="900" b="1" dirty="0" err="1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지령지</a:t>
            </a:r>
            <a:r>
              <a:rPr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  ·  </a:t>
            </a:r>
            <a:r>
              <a:rPr lang="en-US" sz="900" b="1" dirty="0">
                <a:solidFill>
                  <a:srgbClr val="5A5A5A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07</a:t>
            </a:r>
            <a:endParaRPr sz="900" b="1" dirty="0">
              <a:solidFill>
                <a:srgbClr val="5A5A5A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F62571-4D1B-5083-4DBC-015D89A9E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7125A5-B971-E333-64CE-9F91FDE56A93}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B3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0B7E8EF-8B42-7E12-AF25-5B4A44D00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420" y="2363394"/>
            <a:ext cx="5118650" cy="289199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4444C02-6E87-3EE8-7B3E-A53D0B586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67" y="93500"/>
            <a:ext cx="12192000" cy="1397000"/>
          </a:xfrm>
          <a:prstGeom prst="rect">
            <a:avLst/>
          </a:prstGeom>
        </p:spPr>
      </p:pic>
      <p:pic>
        <p:nvPicPr>
          <p:cNvPr id="12" name="Picture 2" descr="C:\ECM\TEMP\부서함\Brand담당\CI 매뉴얼★\★로고파일-자회사名\14년ver\(주)LG\LG_가로조합.png">
            <a:extLst>
              <a:ext uri="{FF2B5EF4-FFF2-40B4-BE49-F238E27FC236}">
                <a16:creationId xmlns:a16="http://schemas.microsoft.com/office/drawing/2014/main" id="{BA029E0F-1F3F-5508-A82E-1DDAD7BB91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102954" y="6263858"/>
            <a:ext cx="824060" cy="361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1309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cc6ed9fc-fefc-4a0c-a6d6-10cf236c0d4f}" enabled="1" method="Standard" siteId="{5069cde4-642a-45c0-8094-d0c2dec10be3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2262</TotalTime>
  <Words>4435</Words>
  <Application>Microsoft Office PowerPoint</Application>
  <PresentationFormat>와이드스크린</PresentationFormat>
  <Paragraphs>573</Paragraphs>
  <Slides>35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1" baseType="lpstr">
      <vt:lpstr>LG스마트체2.0 Regular</vt:lpstr>
      <vt:lpstr>맑은 고딕</vt:lpstr>
      <vt:lpstr>Arial</vt:lpstr>
      <vt:lpstr>Calibri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진명숙/책임/SW공학(연)SW역량강화팀</dc:creator>
  <cp:keywords/>
  <dc:description>generated using python-pptx</dc:description>
  <cp:lastModifiedBy>진명숙/책임/SW공학(연)SW역량강화팀</cp:lastModifiedBy>
  <cp:revision>38</cp:revision>
  <dcterms:created xsi:type="dcterms:W3CDTF">2013-01-27T09:14:16Z</dcterms:created>
  <dcterms:modified xsi:type="dcterms:W3CDTF">2026-08-20T00:17:09Z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LGE Internal Use Only</vt:lpwstr>
  </property>
</Properties>
</file>