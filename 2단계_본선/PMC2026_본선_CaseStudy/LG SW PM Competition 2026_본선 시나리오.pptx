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92" r:id="rId32"/>
    <p:sldId id="293" r:id="rId33"/>
    <p:sldId id="295" r:id="rId34"/>
    <p:sldId id="298" r:id="rId35"/>
    <p:sldId id="296" r:id="rId36"/>
    <p:sldId id="29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79567-5E80-48FE-A26D-92A527AAA99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F4AFE-6F69-4C95-AE6F-974BFD2CA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70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F4AFE-6F69-4C95-AE6F-974BFD2CABD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453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04F50-0DBE-721C-A855-0FA5573C9D2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58A8A"/>
                </a:solidFill>
                <a:latin typeface="맑은 고딕"/>
              </a:rPr>
              <a:t>LG SW PM Competition 2026 · 본선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사건파일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 err="1">
                <a:solidFill>
                  <a:srgbClr val="C9D3E8"/>
                </a:solidFill>
                <a:latin typeface="맑은 고딕"/>
              </a:rPr>
              <a:t>사건번호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PMB-2026-</a:t>
            </a:r>
            <a:r>
              <a:rPr lang="en-US" altLang="ko-KR" sz="1600" b="0" dirty="0">
                <a:solidFill>
                  <a:srgbClr val="C9D3E8"/>
                </a:solidFill>
                <a:latin typeface="맑은 고딕"/>
              </a:rPr>
              <a:t>0826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 ·  PM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보호국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 ·  LGE Internal Use Only</a:t>
            </a:r>
          </a:p>
          <a:p>
            <a:pPr>
              <a:spcAft>
                <a:spcPts val="800"/>
              </a:spcAft>
            </a:pPr>
            <a:r>
              <a:rPr sz="1600" b="0" dirty="0" err="1">
                <a:solidFill>
                  <a:srgbClr val="C9D3E8"/>
                </a:solidFill>
                <a:latin typeface="맑은 고딕"/>
              </a:rPr>
              <a:t>배포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대상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: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진출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7개 팀 (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팀당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3인)   ·  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배포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시각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: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1일차 </a:t>
            </a:r>
            <a:r>
              <a:rPr lang="ko-KR" altLang="en-US" sz="1600" b="0" dirty="0">
                <a:solidFill>
                  <a:srgbClr val="C9D3E8"/>
                </a:solidFill>
                <a:latin typeface="맑은 고딕"/>
              </a:rPr>
              <a:t>오전</a:t>
            </a:r>
            <a:endParaRPr sz="1600" b="0" dirty="0">
              <a:solidFill>
                <a:srgbClr val="C9D3E8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 err="1">
                <a:solidFill>
                  <a:srgbClr val="FFFFFF"/>
                </a:solidFill>
                <a:latin typeface="맑은 고딕"/>
              </a:rPr>
              <a:t>프롤로그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특명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: HERMES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프로젝트의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이상징후를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찾아라</a:t>
            </a:r>
            <a:endParaRPr sz="2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6A5D0-4738-50D0-5EEF-693487FB4C8E}"/>
              </a:ext>
            </a:extLst>
          </p:cNvPr>
          <p:cNvSpPr txBox="1"/>
          <p:nvPr/>
        </p:nvSpPr>
        <p:spPr>
          <a:xfrm>
            <a:off x="457200" y="1261871"/>
            <a:ext cx="112914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전화 한 통이 PM 보호국에 접수되었습니다. 제보자는 프로젝트를 살려달라고 했지만, 무엇이 문제인지 설명하지 못했습니다.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우리가 확보한 것은 이 프로젝트의 모든 기록입니다. 일정은 지켜졌습니다. 예산은 승인 범위 안입니다. 자율주행 성공률은 목표를 넘었습니다. 리스크는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등급이 0건입니다. </a:t>
            </a:r>
            <a:b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주간 보고서는 16주 연속 All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Green입니다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그런데 제보자는 이렇게 말했습니다.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"모든 게 정상이라고 나오는데, 현장에서는 직원이 로봇을 밀고 다닙니다.“</a:t>
            </a:r>
            <a:endParaRPr kumimoji="0" lang="en-US" altLang="ko-KR" sz="1800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감독관 여러분. 이 프로젝트에는 아직 발견되지 않은 </a:t>
            </a:r>
            <a:r>
              <a:rPr kumimoji="0" lang="ko-K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이상징후가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있습니다. 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겉으로 드러난 현상이 아닌 본질을 찾으십시오.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이제 이 사건은 여러분에게 맡겨졌습니다.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1. 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6AF68-A5A7-E1BE-8A49-5CAC8E1BA86A}"/>
              </a:ext>
            </a:extLst>
          </p:cNvPr>
          <p:cNvSpPr txBox="1"/>
          <p:nvPr/>
        </p:nvSpPr>
        <p:spPr>
          <a:xfrm>
            <a:off x="457200" y="1261871"/>
            <a:ext cx="1129145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2026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서비스 로봇 시장의 경쟁 축은 로봇 한 대의 성능에서 </a:t>
            </a:r>
            <a:r>
              <a:rPr lang="en-US" altLang="ko-KR" dirty="0"/>
              <a:t>"</a:t>
            </a:r>
            <a:r>
              <a:rPr lang="ko-KR" altLang="en-US" dirty="0"/>
              <a:t>로봇 수백 대를 어떻게 운영하는가</a:t>
            </a:r>
            <a:r>
              <a:rPr lang="en-US" altLang="ko-KR" dirty="0"/>
              <a:t>"</a:t>
            </a:r>
            <a:r>
              <a:rPr lang="ko-KR" altLang="en-US" dirty="0"/>
              <a:t>로 이동했습니다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고객사가 로봇을 사는 이유는 로봇이 아닙니다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사람이 하던 일을 로봇이 대신해서 인건비와 운영 부담이 줄어드는 것입니다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그래서 시장의 승부는 하드웨어가 아니라 </a:t>
            </a:r>
            <a:r>
              <a:rPr lang="ko-KR" altLang="en-US" dirty="0" err="1"/>
              <a:t>플릿</a:t>
            </a:r>
            <a:r>
              <a:rPr lang="en-US" altLang="ko-KR" dirty="0"/>
              <a:t>(fleet)</a:t>
            </a:r>
            <a:r>
              <a:rPr lang="ko-KR" altLang="en-US" dirty="0"/>
              <a:t>을 원격으로 관제</a:t>
            </a:r>
            <a:r>
              <a:rPr lang="en-US" altLang="ko-KR" dirty="0"/>
              <a:t>·</a:t>
            </a:r>
            <a:r>
              <a:rPr lang="ko-KR" altLang="en-US" dirty="0"/>
              <a:t>배포</a:t>
            </a:r>
            <a:r>
              <a:rPr lang="en-US" altLang="ko-KR" dirty="0"/>
              <a:t>·</a:t>
            </a:r>
            <a:r>
              <a:rPr lang="ko-KR" altLang="en-US" dirty="0"/>
              <a:t>최적화하는 소프트웨어에서 갈립니다</a:t>
            </a:r>
            <a:r>
              <a:rPr lang="en-US" altLang="ko-KR" dirty="0"/>
              <a:t>. </a:t>
            </a:r>
            <a:r>
              <a:rPr lang="ko-KR" altLang="en-US" dirty="0"/>
              <a:t>업계는 이를 </a:t>
            </a:r>
            <a:r>
              <a:rPr lang="en-US" altLang="ko-KR" i="1" dirty="0"/>
              <a:t>software-defined robotics</a:t>
            </a:r>
            <a:r>
              <a:rPr lang="ko-KR" altLang="en-US" dirty="0"/>
              <a:t> 라고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아르고전자</a:t>
            </a:r>
            <a:r>
              <a:rPr lang="en-US" altLang="ko-KR" dirty="0"/>
              <a:t>(ARGO Electronics)</a:t>
            </a:r>
            <a:r>
              <a:rPr lang="ko-KR" altLang="en-US" dirty="0"/>
              <a:t> 는 연 매출 </a:t>
            </a:r>
            <a:r>
              <a:rPr lang="en-US" altLang="ko-KR" dirty="0"/>
              <a:t>40</a:t>
            </a:r>
            <a:r>
              <a:rPr lang="ko-KR" altLang="en-US" dirty="0"/>
              <a:t>조원 규모의 글로벌 가전</a:t>
            </a:r>
            <a:r>
              <a:rPr lang="en-US" altLang="ko-KR" dirty="0"/>
              <a:t>·</a:t>
            </a:r>
            <a:r>
              <a:rPr lang="ko-KR" altLang="en-US" dirty="0"/>
              <a:t>로봇 기업입니다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2026</a:t>
            </a:r>
            <a:r>
              <a:rPr lang="ko-KR" altLang="en-US" dirty="0"/>
              <a:t>년 상반기</a:t>
            </a:r>
            <a:r>
              <a:rPr lang="en-US" altLang="ko-KR" dirty="0"/>
              <a:t>, </a:t>
            </a:r>
            <a:r>
              <a:rPr lang="ko-KR" altLang="en-US" dirty="0" err="1"/>
              <a:t>아르고전자는</a:t>
            </a:r>
            <a:r>
              <a:rPr lang="ko-KR" altLang="en-US" dirty="0"/>
              <a:t> </a:t>
            </a:r>
            <a:r>
              <a:rPr lang="ko-KR" altLang="en-US" dirty="0" err="1"/>
              <a:t>로보틱스사업센터를</a:t>
            </a:r>
            <a:r>
              <a:rPr lang="ko-KR" altLang="en-US" dirty="0"/>
              <a:t> </a:t>
            </a:r>
            <a:r>
              <a:rPr lang="en-US" altLang="ko-KR" dirty="0"/>
              <a:t>CEO </a:t>
            </a:r>
            <a:r>
              <a:rPr lang="ko-KR" altLang="en-US" dirty="0"/>
              <a:t>직속으로 신설하고 </a:t>
            </a:r>
            <a:br>
              <a:rPr lang="en-US" altLang="ko-KR" dirty="0"/>
            </a:br>
            <a:r>
              <a:rPr lang="en-US" altLang="ko-KR" dirty="0"/>
              <a:t>2026</a:t>
            </a:r>
            <a:r>
              <a:rPr lang="ko-KR" altLang="en-US" dirty="0"/>
              <a:t>년을 </a:t>
            </a:r>
            <a:r>
              <a:rPr lang="en-US" altLang="ko-KR" dirty="0"/>
              <a:t>"</a:t>
            </a:r>
            <a:r>
              <a:rPr lang="ko-KR" altLang="en-US" dirty="0" err="1"/>
              <a:t>로보틱스</a:t>
            </a:r>
            <a:r>
              <a:rPr lang="ko-KR" altLang="en-US" dirty="0"/>
              <a:t> 기반 구축의 해</a:t>
            </a:r>
            <a:r>
              <a:rPr lang="en-US" altLang="ko-KR" dirty="0"/>
              <a:t>"</a:t>
            </a:r>
            <a:r>
              <a:rPr lang="ko-KR" altLang="en-US" dirty="0"/>
              <a:t>로 선언했습니다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사업은 세 축입니다 </a:t>
            </a:r>
            <a:r>
              <a:rPr lang="en-US" altLang="ko-KR" dirty="0"/>
              <a:t>— </a:t>
            </a:r>
            <a:r>
              <a:rPr lang="ko-KR" altLang="en-US" dirty="0"/>
              <a:t>가정용은 </a:t>
            </a:r>
            <a:r>
              <a:rPr lang="ko-KR" altLang="en-US" dirty="0" err="1"/>
              <a:t>로보틱스사업센터</a:t>
            </a:r>
            <a:r>
              <a:rPr lang="en-US" altLang="ko-KR" dirty="0"/>
              <a:t>, </a:t>
            </a:r>
            <a:r>
              <a:rPr lang="ko-KR" altLang="en-US" dirty="0"/>
              <a:t>산업용은 자회사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상업용은 미국 자회사 </a:t>
            </a:r>
            <a:r>
              <a:rPr lang="en-US" altLang="ko-KR" dirty="0"/>
              <a:t>Bexar Robotics(2025</a:t>
            </a:r>
            <a:r>
              <a:rPr lang="ko-KR" altLang="en-US" dirty="0"/>
              <a:t>년 경영권 인수</a:t>
            </a:r>
            <a:r>
              <a:rPr lang="en-US" altLang="ko-KR" dirty="0"/>
              <a:t>, </a:t>
            </a:r>
            <a:r>
              <a:rPr lang="ko-KR" altLang="en-US" dirty="0" err="1"/>
              <a:t>레드우드시티</a:t>
            </a:r>
            <a:r>
              <a:rPr lang="en-US" altLang="ko-KR" dirty="0"/>
              <a:t>)</a:t>
            </a:r>
            <a:r>
              <a:rPr lang="ko-KR" altLang="en-US" dirty="0"/>
              <a:t>가 맡습니다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그 첫 번째 전사 실행 과제가 </a:t>
            </a:r>
            <a:r>
              <a:rPr lang="en-US" altLang="ko-KR" dirty="0"/>
              <a:t>HERMES</a:t>
            </a:r>
            <a:r>
              <a:rPr lang="ko-KR" altLang="en-US" dirty="0"/>
              <a:t> 프로젝트입니다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HERMES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918456"/>
              </p:ext>
            </p:extLst>
          </p:nvPr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7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프로젝트명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HERMES — Fleet Orchestration Platform for Service Robots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상업용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서비스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로봇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6개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기종을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하나의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플랫폼에서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원격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관제·임무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배차·경로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최적화·OTA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배포·이상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감지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2026-01-05 ~ 2026-09-30 (약 9개월)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총 예산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118억원 (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개발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82억 / AI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인프라·시뮬레이션·추론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24억 /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외부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파트너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12억)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인원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96명 —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한국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서울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양재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58명,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미국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레드우드시티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22명,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인도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뱅갈로르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16명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운영 방식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2주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스프린트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(S1~S18) +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마일스톤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게이트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(G1~G5)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병행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지원 기종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서빙봇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배송봇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청소봇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안내봇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물류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카트봇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방역봇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(6종)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상용 배포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2026-09-30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한국·미국·인도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3개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동시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현재 시점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2026-08-24(월) —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상용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배포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D-37,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스프린트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S17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진행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외부 파트너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142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0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파트너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계약 형태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Helion Robotics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자율주행 스택 — SLAM·내비게이션 SDK, 맵·커맨드 스키마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수의계약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스폰서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추천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Cordis Motion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액추에이터·모터 드라이버 SDK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경쟁입찰</a:t>
                      </a:r>
                      <a:endParaRPr sz="17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Business Case가 약속한 것 (2025-12-18 승인)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063246"/>
              </p:ext>
            </p:extLst>
          </p:nvPr>
        </p:nvGraphicFramePr>
        <p:xfrm>
          <a:off x="487680" y="1750290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편익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KPI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Baseline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Target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고객 사업장 계약 유지율 개선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12개월 계약 유지율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31%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45%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현장 출동 정비(A/S) 절감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출동 건수/로봇 1천대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42건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29건 (-30%)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플릿 관제 구독(RaaS) 전환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유료 구독 전환율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8%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플릿 데이터 기반 신규 매출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연 매출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0원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120억원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BEN-05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로봇 SW 릴리스 생산성 향상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OTA 릴리스 리드타임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21일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12일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7680" y="481353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dirty="0">
                <a:solidFill>
                  <a:srgbClr val="222222"/>
                </a:solidFill>
                <a:latin typeface="맑은 고딕"/>
              </a:rPr>
              <a:t>■  이 5개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편익이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118억원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투자를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정당화한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근거입니다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. 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참조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: `02_benefit_register.csv`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33055-B443-2F19-0D28-204566C08285}"/>
              </a:ext>
            </a:extLst>
          </p:cNvPr>
          <p:cNvSpPr txBox="1"/>
          <p:nvPr/>
        </p:nvSpPr>
        <p:spPr>
          <a:xfrm>
            <a:off x="327429" y="1209964"/>
            <a:ext cx="907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프로젝트 승인 문서</a:t>
            </a:r>
            <a:r>
              <a:rPr lang="en-US" altLang="ko-KR" dirty="0"/>
              <a:t>(Business Case, 2025-12-18)</a:t>
            </a:r>
            <a:r>
              <a:rPr lang="ko-KR" altLang="en-US" dirty="0"/>
              <a:t>에는 다음 </a:t>
            </a:r>
            <a:r>
              <a:rPr lang="en-US" altLang="ko-KR" dirty="0"/>
              <a:t>5</a:t>
            </a:r>
            <a:r>
              <a:rPr lang="ko-KR" altLang="en-US" dirty="0"/>
              <a:t>개 편익이 명시되어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2. 등장 인물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755277"/>
              </p:ext>
            </p:extLst>
          </p:nvPr>
        </p:nvGraphicFramePr>
        <p:xfrm>
          <a:off x="502920" y="1143000"/>
          <a:ext cx="11201400" cy="3744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이름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/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소속</a:t>
                      </a:r>
                      <a:endParaRPr sz="16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  <a:endParaRPr sz="16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책임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서지환 (로보틱스사업센터장 전무, 스폰서)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프로젝트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스폰서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전사 후원, 예산 승인, 최종 에스컬레이션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한도경 (PM, SW PMO)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프로젝트 매니저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일정·범위·리스크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통합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관리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게이트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운영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노유진 (PO, 서비스기획)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제품 책임자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요구사항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우선순위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서비스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가치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정의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임태오 (자율주행/AI 플랫폼 리드)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자율주행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주행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정책·시뮬레이션·추론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AI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인프라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운용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배가온 (로봇SW·관제UX 리드)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로봇SW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6기종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제어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연동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플릿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관제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콘솔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정하람 (클라우드 플랫폼 리드)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플랫폼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관제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API·성능·CI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/CD·OTA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문세아 (QA Lead)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품질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테스트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전략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안전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검증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품질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게이트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2. 등장 인물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448837"/>
              </p:ext>
            </p:extLst>
          </p:nvPr>
        </p:nvGraphicFramePr>
        <p:xfrm>
          <a:off x="502920" y="1143000"/>
          <a:ext cx="11310389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6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0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이름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/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소속</a:t>
                      </a:r>
                      <a:endParaRPr sz="14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책임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오시윤 (Data/Fleet Analytics Lead)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데이터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리드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플릿 텔레메트리, 가동률 지표, 파일럿 분석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윤채원 (안전/보안·법무)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안전·규제 담당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ISO 13482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안전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인증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EU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기계류규정·AI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Act,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영상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개인정보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남기웅 (구매/벤더 매니저)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외부 협력 담당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계약·SLA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파트너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커뮤니케이션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Daniel Suh (미국 레드우드시티, Bexar Robotics)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상업용 로봇 개발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미국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개발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현장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배치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Ananya Rao (인도 뱅갈로르)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인도 개발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인도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개발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QA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자동화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Ethan Reid (Helion Robotics)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맑은 고딕"/>
                        </a:rPr>
                        <a:t>파트너 계정 담당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자율주행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스택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로드맵</a:t>
                      </a:r>
                      <a:endParaRPr sz="14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사람이 아닌 참여자 — AI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811657"/>
              </p:ext>
            </p:extLst>
          </p:nvPr>
        </p:nvGraphicFramePr>
        <p:xfrm>
          <a:off x="502920" y="1660231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6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에이전트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권한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agent/codegen-3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스펙 → 코드 생성, PR 작성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리포지토리 쓰기, 브랜치 생성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agent/reviewer-2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1차 코드 리뷰, LGTM 판정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PR 승인 의견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agent/reporter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주간 상태보고 자동 생성·발송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전사 배포 목록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agent/standup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비동기 스탠드업 요약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팀 채널 게시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agent/pm-assistant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PM 질의 응답, 지표 조회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대시보드·Jira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읽기</a:t>
                      </a:r>
                      <a:endParaRPr sz="17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EA48A-8890-A2B3-7F35-74124176FF71}"/>
              </a:ext>
            </a:extLst>
          </p:cNvPr>
          <p:cNvSpPr txBox="1"/>
          <p:nvPr/>
        </p:nvSpPr>
        <p:spPr>
          <a:xfrm>
            <a:off x="327429" y="1122926"/>
            <a:ext cx="907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0" dirty="0">
                <a:solidFill>
                  <a:srgbClr val="222222"/>
                </a:solidFill>
                <a:latin typeface="맑은 고딕"/>
              </a:rPr>
              <a:t>이 프로젝트에서 실제로 코드를 쓰는 쪽입니다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3. 프로젝트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957" y="1188720"/>
            <a:ext cx="11578244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 err="1">
                <a:solidFill>
                  <a:srgbClr val="1F2A44"/>
                </a:solidFill>
                <a:latin typeface="맑은 고딕"/>
              </a:rPr>
              <a:t>포함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(In Scope)</a:t>
            </a: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자율주행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내비게이션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— SLAM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지도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생성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동적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장애물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회피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미학습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상황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안전정지·폴백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다층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이동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(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엘리베이터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연동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)</a:t>
            </a: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로봇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기종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제어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연동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— 6기종,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펌웨어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버전별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커맨드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매핑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구동계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상태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진단</a:t>
            </a:r>
            <a:endParaRPr sz="150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임무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스케줄링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경로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최적화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—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다중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로봇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경로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조정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피크타임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배차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임무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실패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자동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재배정</a:t>
            </a:r>
            <a:endParaRPr sz="150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플릿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관제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콘솔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UX —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실시간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지도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뷰,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원격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조작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(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Teleop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),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권한·역할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관리</a:t>
            </a:r>
            <a:endParaRPr sz="150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데이터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플릿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텔레메트리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—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주행·임무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로그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가동률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집계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A/B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실험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프레임</a:t>
            </a:r>
            <a:endParaRPr sz="150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안전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보안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컴플라이언스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—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비상정지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회로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주행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영상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국외이전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인물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마스킹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ISO 13482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문서</a:t>
            </a:r>
            <a:endParaRPr sz="150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인프라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/OTA/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MLOps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—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모델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서빙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주행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정책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버전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관리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엣지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추론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캐시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모델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티어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라우팅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, OTA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단계적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배포</a:t>
            </a:r>
            <a:endParaRPr sz="1500" dirty="0">
              <a:solidFill>
                <a:srgbClr val="5A5A5A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 err="1">
                <a:solidFill>
                  <a:srgbClr val="1F2A44"/>
                </a:solidFill>
                <a:latin typeface="맑은 고딕"/>
              </a:rPr>
              <a:t>제외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(Out of Scope)</a:t>
            </a:r>
          </a:p>
          <a:p>
            <a:pPr marL="320040" indent="0">
              <a:spcAft>
                <a:spcPts val="400"/>
              </a:spcAft>
            </a:pPr>
            <a:r>
              <a:rPr sz="1500" b="0" dirty="0">
                <a:solidFill>
                  <a:srgbClr val="5A5A5A"/>
                </a:solidFill>
                <a:latin typeface="맑은 고딕"/>
              </a:rPr>
              <a:t>• 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로봇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하드웨어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신규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개발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액추에이터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자체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개발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,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실외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자율주행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인증</a:t>
            </a:r>
            <a:endParaRPr sz="1500" b="0" dirty="0">
              <a:solidFill>
                <a:srgbClr val="5A5A5A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 err="1">
                <a:solidFill>
                  <a:srgbClr val="1F2A44"/>
                </a:solidFill>
                <a:latin typeface="맑은 고딕"/>
              </a:rPr>
              <a:t>의존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요소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(Dependency)</a:t>
            </a:r>
          </a:p>
          <a:p>
            <a:pPr marL="320040" indent="0">
              <a:spcAft>
                <a:spcPts val="400"/>
              </a:spcAft>
            </a:pPr>
            <a:r>
              <a:rPr sz="1500" b="0" dirty="0">
                <a:solidFill>
                  <a:srgbClr val="5A5A5A"/>
                </a:solidFill>
                <a:latin typeface="맑은 고딕"/>
              </a:rPr>
              <a:t>•  Helion Robotics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자율주행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스택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및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버전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로드맵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(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대체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공급사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맑은 고딕"/>
              </a:rPr>
              <a:t>없음</a:t>
            </a:r>
            <a:r>
              <a:rPr sz="1500" dirty="0">
                <a:solidFill>
                  <a:srgbClr val="5A5A5A"/>
                </a:solidFill>
                <a:latin typeface="맑은 고딕"/>
              </a:rPr>
              <a:t>)</a:t>
            </a:r>
          </a:p>
          <a:p>
            <a:pPr marL="320040" indent="0">
              <a:spcAft>
                <a:spcPts val="400"/>
              </a:spcAft>
            </a:pPr>
            <a:r>
              <a:rPr sz="1500" b="0" dirty="0">
                <a:solidFill>
                  <a:srgbClr val="5A5A5A"/>
                </a:solidFill>
                <a:latin typeface="맑은 고딕"/>
              </a:rPr>
              <a:t>•  Cordis Motion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액추에이터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SDK </a:t>
            </a:r>
            <a:endParaRPr lang="en-US" sz="1500" dirty="0">
              <a:solidFill>
                <a:srgbClr val="5A5A5A"/>
              </a:solidFill>
              <a:latin typeface="맑은 고딕"/>
            </a:endParaRPr>
          </a:p>
          <a:p>
            <a:pPr marL="3204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rgbClr val="5A5A5A"/>
                </a:solidFill>
                <a:latin typeface="맑은 고딕"/>
              </a:rPr>
              <a:t>  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각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기종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사업부의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펌웨어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릴리스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일정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endParaRPr lang="en-US" sz="1500" dirty="0">
              <a:solidFill>
                <a:srgbClr val="5A5A5A"/>
              </a:solidFill>
              <a:latin typeface="맑은 고딕"/>
            </a:endParaRPr>
          </a:p>
          <a:p>
            <a:pPr marL="3204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rgbClr val="5A5A5A"/>
                </a:solidFill>
                <a:latin typeface="맑은 고딕"/>
              </a:rPr>
              <a:t> 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안전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인증기관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심사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및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법무실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규제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검토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(EU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포함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)</a:t>
            </a:r>
            <a:br>
              <a:rPr lang="en-US" sz="1500" b="0" dirty="0">
                <a:solidFill>
                  <a:srgbClr val="5A5A5A"/>
                </a:solidFill>
                <a:latin typeface="맑은 고딕"/>
              </a:rPr>
            </a:br>
            <a:endParaRPr sz="1500" b="0" dirty="0">
              <a:solidFill>
                <a:srgbClr val="5A5A5A"/>
              </a:solidFill>
              <a:latin typeface="맑은 고딕"/>
            </a:endParaRPr>
          </a:p>
          <a:p>
            <a:pPr marL="640080" indent="0">
              <a:spcAft>
                <a:spcPts val="400"/>
              </a:spcAft>
            </a:pPr>
            <a:r>
              <a:rPr sz="1500" b="0" dirty="0">
                <a:solidFill>
                  <a:srgbClr val="5A5A5A"/>
                </a:solidFill>
                <a:latin typeface="맑은 고딕"/>
              </a:rPr>
              <a:t>– 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참조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: `03_requirements.csv` —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요구사항</a:t>
            </a:r>
            <a:r>
              <a:rPr sz="1500" b="0" dirty="0">
                <a:solidFill>
                  <a:srgbClr val="5A5A5A"/>
                </a:solidFill>
                <a:latin typeface="맑은 고딕"/>
              </a:rPr>
              <a:t> 84건 baseline </a:t>
            </a:r>
            <a:r>
              <a:rPr sz="1500" b="0" dirty="0" err="1">
                <a:solidFill>
                  <a:srgbClr val="5A5A5A"/>
                </a:solidFill>
                <a:latin typeface="맑은 고딕"/>
              </a:rPr>
              <a:t>전체</a:t>
            </a:r>
            <a:endParaRPr sz="1500" b="0" dirty="0">
              <a:solidFill>
                <a:srgbClr val="5A5A5A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4. 프로젝트 성공 기준 (헌장, 2026-01-05 승인)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397" cy="420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9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성공기준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목표값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2026-08-21 실적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요구사항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구현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완료율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100% (84건)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92.9% (78/84)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관제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명령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응답시간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p95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≤ 1.5s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1.28s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자율주행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임무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성공률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≥ 92%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93.4%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CI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빌드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성공률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≥ 85%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89.0%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G5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시점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High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리스크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SPI (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일정성과지수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≥ 0.95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1.02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CPI (원가성과지수)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≥ 0.95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0.98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SC-08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지원 로봇 기종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6종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6종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778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전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항목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GREEN.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참조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`01_charter_success_criteria.csv`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5. 마일스톤 및 진행 경과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15796"/>
              </p:ext>
            </p:extLst>
          </p:nvPr>
        </p:nvGraphicFramePr>
        <p:xfrm>
          <a:off x="457201" y="1168908"/>
          <a:ext cx="114300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0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게이트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계획일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실적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G1 Scope Freeze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 84건 baseline 확정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2026-01-19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2026-01-19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정시 통과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G2 Design/Safety Freeze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아키텍처·안전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설계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승인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2026-03-20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2026-03-20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통과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G3 Alpha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핵심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기능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First Complete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2026-05-29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2026-05-29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조건부 통과 (조건 3건)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G4 Pilot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파일럿 사업장 배치 개시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2026-07-10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2026-07-10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정시 통과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G5 상용 배포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3개 리전 동시 상용 배포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2026-09-30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26312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G3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조건부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통과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시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명시된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조건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3건: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br>
              <a:rPr lang="en-US" sz="1350" b="0" dirty="0">
                <a:solidFill>
                  <a:srgbClr val="222222"/>
                </a:solidFill>
                <a:latin typeface="맑은 고딕"/>
              </a:rPr>
            </a:br>
            <a:r>
              <a:rPr sz="1350" b="0" dirty="0">
                <a:solidFill>
                  <a:srgbClr val="222222"/>
                </a:solidFill>
                <a:latin typeface="맑은 고딕"/>
              </a:rPr>
              <a:t>①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엣지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추론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캐시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레이어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도입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 </a:t>
            </a:r>
            <a:br>
              <a:rPr lang="en-US" sz="1350" b="0" dirty="0">
                <a:solidFill>
                  <a:srgbClr val="222222"/>
                </a:solidFill>
                <a:latin typeface="맑은 고딕"/>
              </a:rPr>
            </a:br>
            <a:r>
              <a:rPr sz="1350" b="0" dirty="0">
                <a:solidFill>
                  <a:srgbClr val="222222"/>
                </a:solidFill>
                <a:latin typeface="맑은 고딕"/>
              </a:rPr>
              <a:t>②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미학습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상황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폴백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(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안전정지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)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처리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방침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확정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 </a:t>
            </a:r>
            <a:br>
              <a:rPr lang="en-US" sz="1350" b="0" dirty="0">
                <a:solidFill>
                  <a:srgbClr val="222222"/>
                </a:solidFill>
                <a:latin typeface="맑은 고딕"/>
              </a:rPr>
            </a:br>
            <a:r>
              <a:rPr sz="1350" b="0" dirty="0">
                <a:solidFill>
                  <a:srgbClr val="222222"/>
                </a:solidFill>
                <a:latin typeface="맑은 고딕"/>
              </a:rPr>
              <a:t>③ AI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인프라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예산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재검토</a:t>
            </a:r>
            <a:br>
              <a:rPr lang="en-US" sz="1350" b="0" dirty="0">
                <a:solidFill>
                  <a:srgbClr val="222222"/>
                </a:solidFill>
                <a:latin typeface="맑은 고딕"/>
              </a:rPr>
            </a:br>
            <a:endParaRPr sz="1350" b="0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맑은 고딕"/>
              </a:rPr>
              <a:t>■  이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조건들의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해소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여부를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추적한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기록은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어디에도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없습니다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.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참조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`15_governance_log.csv`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간트 (요약)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5245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081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1월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요구사항/설계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자율주행/내비게이션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로봇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기종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제어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연동</a:t>
                      </a:r>
                      <a:endParaRPr sz="95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임무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스케줄링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최적화</a:t>
                      </a:r>
                      <a:endParaRPr sz="95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플릿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관제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콘솔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UX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데이터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플릿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텔레메트리</a:t>
                      </a:r>
                      <a:endParaRPr sz="95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안전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보안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컴플라이언스</a:t>
                      </a:r>
                      <a:endParaRPr sz="95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⋯(Blocked)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인프라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/OTA/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MLOps</a:t>
                      </a:r>
                      <a:endParaRPr sz="95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파일럿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(24개사업장·120대)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안정화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상용</a:t>
                      </a:r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배포</a:t>
                      </a:r>
                      <a:endParaRPr sz="95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███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95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게이트</a:t>
                      </a:r>
                      <a:endParaRPr sz="95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▲G4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◀현재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▲G5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6. 파일럿 운영 결과 (2026-07-13 ~ 08-21, 6주)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00610-0B63-4A5F-61E6-C67237A296FB}"/>
              </a:ext>
            </a:extLst>
          </p:cNvPr>
          <p:cNvSpPr txBox="1"/>
          <p:nvPr/>
        </p:nvSpPr>
        <p:spPr>
          <a:xfrm>
            <a:off x="457200" y="1261871"/>
            <a:ext cx="112914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/>
              <a:t>G4 </a:t>
            </a:r>
            <a:r>
              <a:rPr lang="ko-KR" altLang="en-US" dirty="0"/>
              <a:t>통과 후</a:t>
            </a:r>
            <a:r>
              <a:rPr lang="en-US" altLang="ko-KR" dirty="0"/>
              <a:t>, </a:t>
            </a:r>
            <a:r>
              <a:rPr lang="ko-KR" altLang="en-US" dirty="0"/>
              <a:t>고객 사업장 </a:t>
            </a:r>
            <a:r>
              <a:rPr lang="en-US" altLang="ko-KR" dirty="0"/>
              <a:t>24</a:t>
            </a:r>
            <a:r>
              <a:rPr lang="ko-KR" altLang="en-US" dirty="0"/>
              <a:t>곳에 로봇 </a:t>
            </a:r>
            <a:r>
              <a:rPr lang="en-US" altLang="ko-KR" dirty="0"/>
              <a:t>120</a:t>
            </a:r>
            <a:r>
              <a:rPr lang="ko-KR" altLang="en-US" dirty="0"/>
              <a:t>대를 배치해 </a:t>
            </a:r>
            <a:r>
              <a:rPr lang="en-US" altLang="ko-KR" dirty="0"/>
              <a:t>6</a:t>
            </a:r>
            <a:r>
              <a:rPr lang="ko-KR" altLang="en-US" dirty="0"/>
              <a:t>주간 파일럿을 운영했습니다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사업장 구성은 식음료 매장 </a:t>
            </a:r>
            <a:r>
              <a:rPr lang="en-US" altLang="ko-KR" dirty="0"/>
              <a:t>11</a:t>
            </a:r>
            <a:r>
              <a:rPr lang="ko-KR" altLang="en-US" dirty="0"/>
              <a:t>곳</a:t>
            </a:r>
            <a:r>
              <a:rPr lang="en-US" altLang="ko-KR" dirty="0"/>
              <a:t>, </a:t>
            </a:r>
            <a:r>
              <a:rPr lang="ko-KR" altLang="en-US" dirty="0"/>
              <a:t>물류 창고 </a:t>
            </a:r>
            <a:r>
              <a:rPr lang="en-US" altLang="ko-KR" dirty="0"/>
              <a:t>5</a:t>
            </a:r>
            <a:r>
              <a:rPr lang="ko-KR" altLang="en-US" dirty="0"/>
              <a:t>곳</a:t>
            </a:r>
            <a:r>
              <a:rPr lang="en-US" altLang="ko-KR" dirty="0"/>
              <a:t>, </a:t>
            </a:r>
            <a:r>
              <a:rPr lang="ko-KR" altLang="en-US" dirty="0"/>
              <a:t>병원</a:t>
            </a:r>
            <a:r>
              <a:rPr lang="en-US" altLang="ko-KR" dirty="0"/>
              <a:t>·</a:t>
            </a:r>
            <a:r>
              <a:rPr lang="ko-KR" altLang="en-US" dirty="0"/>
              <a:t>요양시설 </a:t>
            </a:r>
            <a:r>
              <a:rPr lang="en-US" altLang="ko-KR" dirty="0"/>
              <a:t>4</a:t>
            </a:r>
            <a:r>
              <a:rPr lang="ko-KR" altLang="en-US" dirty="0"/>
              <a:t>곳</a:t>
            </a:r>
            <a:r>
              <a:rPr lang="en-US" altLang="ko-KR" dirty="0"/>
              <a:t>, </a:t>
            </a:r>
            <a:r>
              <a:rPr lang="ko-KR" altLang="en-US" dirty="0"/>
              <a:t>오피스 로비 </a:t>
            </a:r>
            <a:r>
              <a:rPr lang="en-US" altLang="ko-KR" dirty="0"/>
              <a:t>4</a:t>
            </a:r>
            <a:r>
              <a:rPr lang="ko-KR" altLang="en-US" dirty="0"/>
              <a:t>곳입니다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📎 </a:t>
            </a:r>
            <a:r>
              <a:rPr lang="en-US" altLang="ko-KR" dirty="0"/>
              <a:t>09_telemetry_pilot.csv — </a:t>
            </a:r>
            <a:r>
              <a:rPr lang="ko-KR" altLang="en-US" dirty="0" err="1"/>
              <a:t>주차별</a:t>
            </a:r>
            <a:r>
              <a:rPr lang="ko-KR" altLang="en-US" dirty="0"/>
              <a:t> 전체 지표 </a:t>
            </a: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📎 </a:t>
            </a:r>
            <a:r>
              <a:rPr lang="en-US" altLang="ko-KR" dirty="0"/>
              <a:t>10_navigation_eval_vs_field.csv — </a:t>
            </a:r>
            <a:r>
              <a:rPr lang="ko-KR" altLang="en-US" dirty="0"/>
              <a:t>테스트베드 성공률 </a:t>
            </a:r>
            <a:r>
              <a:rPr lang="en-US" altLang="ko-KR" dirty="0"/>
              <a:t>vs </a:t>
            </a:r>
            <a:r>
              <a:rPr lang="ko-KR" altLang="en-US" dirty="0"/>
              <a:t>실사업장 로그</a:t>
            </a: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이 데이터는 매주 금요일 </a:t>
            </a:r>
            <a:r>
              <a:rPr lang="ko-KR" altLang="en-US" dirty="0" err="1"/>
              <a:t>오시윤</a:t>
            </a:r>
            <a:r>
              <a:rPr lang="en-US" altLang="ko-KR" dirty="0"/>
              <a:t>(Data Lead) </a:t>
            </a:r>
            <a:r>
              <a:rPr lang="ko-KR" altLang="en-US" dirty="0"/>
              <a:t>이 작성해 배포했습니다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📎 </a:t>
            </a:r>
            <a:r>
              <a:rPr lang="en-US" altLang="ko-KR" dirty="0"/>
              <a:t>16_org_raci.csv — </a:t>
            </a:r>
            <a:r>
              <a:rPr lang="ko-KR" altLang="en-US" dirty="0"/>
              <a:t>배포 대상을 확인하십시오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7. 사건 재구성 — 2026-08-21 (금)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이 팀에서는 사람이 코드를 거의 쓰지 않는다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PM 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보호국은 </a:t>
            </a:r>
            <a:r>
              <a:rPr lang="ko-KR" altLang="en-US" sz="2000" dirty="0" err="1">
                <a:solidFill>
                  <a:srgbClr val="222222"/>
                </a:solidFill>
                <a:latin typeface="맑은 고딕"/>
              </a:rPr>
              <a:t>한도경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PM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의 하루를 인터뷰가 아니라 시스템 기록으로 재구성했습니다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. </a:t>
            </a:r>
            <a:br>
              <a:rPr lang="en-US" altLang="ko-KR" sz="2000" dirty="0">
                <a:solidFill>
                  <a:srgbClr val="222222"/>
                </a:solidFill>
                <a:latin typeface="맑은 고딕"/>
              </a:rPr>
            </a:b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쿼터 로그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스탠드업 게시물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에이전트 세션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, PR 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이력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의사결정 티켓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회고 보드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노트북 출력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이 팀이 남긴 기록은 사람의 말보다 정확합니다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. </a:t>
            </a:r>
            <a:r>
              <a:rPr lang="ko-KR" altLang="en-US" sz="2000" dirty="0">
                <a:solidFill>
                  <a:srgbClr val="222222"/>
                </a:solidFill>
                <a:latin typeface="맑은 고딕"/>
              </a:rPr>
              <a:t>그리고 더 많은 것을 말합니다</a:t>
            </a:r>
            <a:r>
              <a:rPr lang="en-US" altLang="ko-KR" sz="2000" dirty="0">
                <a:solidFill>
                  <a:srgbClr val="222222"/>
                </a:solidFill>
                <a:latin typeface="맑은 고딕"/>
              </a:rPr>
              <a:t>.</a:t>
            </a:r>
            <a:endParaRPr sz="2000" dirty="0">
              <a:solidFill>
                <a:srgbClr val="222222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7-0. 이 프로젝트가 일하는 방식 (2026년 기준)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618171"/>
              </p:ext>
            </p:extLst>
          </p:nvPr>
        </p:nvGraphicFramePr>
        <p:xfrm>
          <a:off x="502920" y="1143000"/>
          <a:ext cx="11201400" cy="420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  <a:endParaRPr sz="16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코드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생성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AI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에이전트가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스펙을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받아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구현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사람이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직접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작성한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코드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비율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8%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코드 리뷰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1차 agent/reviewer-2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자동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→ 2차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사람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승인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사람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승인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소요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중위값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4분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스탠드업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대면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폐지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비동기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텍스트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게시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+ agent/standup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요약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회의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주 2회로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제한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그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외는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비동기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음성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메모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스펙 전달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에이전트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프롬프트로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구두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수준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전달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문서화는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사후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(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하는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경우에만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eval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스위트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자동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+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검증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검증은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DoD v2에서 Done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조건에서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제외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AI 예산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단일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풀.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개발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에이전트·자동보고·현장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원격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인식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추론·문서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초안이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같은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예산을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나눠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3리전 협업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비동기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우선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한국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–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미국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업무시간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겹침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1시간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778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참조: `07_ai_infra_cost.csv` — 예산 풀의 용도별 배분과 주간 쿼터 소진율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7-1. 07:40 · 주간 AI 쿼터 경보 (자동 발송)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AI BUDGET ALERT · W33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주간 개발 에이전트 쿼터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66.0 (백만원 상당)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현재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소진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54.5 — 82.6%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누적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집행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21.4억 / 예산 24억 (89.2%)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쿼터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정책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개발 우선 (5주 연속)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자동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조치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풀 여유 확보를 위해 현장 원격 인식 추론 샘플링 비율 하향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승인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필요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아니오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정책에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따라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자동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적용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634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dirty="0">
                <a:solidFill>
                  <a:srgbClr val="222222"/>
                </a:solidFill>
                <a:latin typeface="맑은 고딕"/>
              </a:rPr>
              <a:t>■  이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자동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조치가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무엇을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했는지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확인하십시오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.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개발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속도를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지키기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위해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줄인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것은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로봇이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현장에서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무엇을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만났는지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보는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눈입니다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sz="135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참조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`07_ai_infra_cost.csv` —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누적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배분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: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개발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에이전트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40.6% /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자동보고·회귀시뮬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27.4% /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현장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추론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22.7% /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문서초안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9.3%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7-2. 09:12 · 비동기 스탠드업 — AI 요약과 원문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>
                <a:solidFill>
                  <a:srgbClr val="1F2A44"/>
                </a:solidFill>
                <a:latin typeface="맑은 고딕"/>
              </a:rPr>
              <a:t>`agent/standup` 이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생성해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팀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채널에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게시한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요약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(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한도경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읽음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✔ 09:14)</a:t>
            </a:r>
          </a:p>
          <a:p>
            <a:pPr marL="320040" indent="0">
              <a:spcAft>
                <a:spcPts val="400"/>
              </a:spcAft>
            </a:pPr>
            <a:r>
              <a:rPr sz="1250" b="0" dirty="0">
                <a:solidFill>
                  <a:srgbClr val="5A5A5A"/>
                </a:solidFill>
                <a:latin typeface="맑은 고딕"/>
              </a:rPr>
              <a:t>“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잔여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요구사항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6건 중 4건 S17 내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완료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예정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.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차단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이슈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없음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. </a:t>
            </a:r>
            <a:endParaRPr lang="en-US" sz="1250" b="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250" b="0" dirty="0" err="1">
                <a:solidFill>
                  <a:srgbClr val="5A5A5A"/>
                </a:solidFill>
                <a:latin typeface="맑은 고딕"/>
              </a:rPr>
              <a:t>파일럿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24개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사업장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정상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운영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중. CI 89%.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특이사항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없음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. </a:t>
            </a:r>
            <a:endParaRPr lang="en-US" sz="1250" b="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250" b="0" dirty="0" err="1">
                <a:solidFill>
                  <a:srgbClr val="5A5A5A"/>
                </a:solidFill>
                <a:latin typeface="맑은 고딕"/>
              </a:rPr>
              <a:t>오늘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집중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항목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: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잔여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범위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맑은 고딕"/>
              </a:rPr>
              <a:t>마감</a:t>
            </a:r>
            <a:r>
              <a:rPr sz="1250" b="0" dirty="0">
                <a:solidFill>
                  <a:srgbClr val="5A5A5A"/>
                </a:solidFill>
                <a:latin typeface="맑은 고딕"/>
              </a:rPr>
              <a:t>.”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 err="1">
                <a:solidFill>
                  <a:srgbClr val="1F2A44"/>
                </a:solidFill>
                <a:latin typeface="맑은 고딕"/>
              </a:rPr>
              <a:t>같은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시각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팀원들이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실제로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올린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원문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(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한도경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읽음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표시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맑은 고딕"/>
              </a:rPr>
              <a:t>없음</a:t>
            </a:r>
            <a:r>
              <a:rPr sz="1500" b="1" dirty="0">
                <a:solidFill>
                  <a:srgbClr val="1F2A44"/>
                </a:solidFill>
                <a:latin typeface="맑은 고딕"/>
              </a:rPr>
              <a:t>)</a:t>
            </a:r>
            <a:endParaRPr lang="en-US" sz="1500" b="1" dirty="0">
              <a:solidFill>
                <a:srgbClr val="1F2A44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맑은 고딕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sz="1500" b="1" dirty="0">
              <a:solidFill>
                <a:srgbClr val="1F2A44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17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C757776-AAB2-0D63-A65D-F8C18E069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64489"/>
            <a:ext cx="10698123" cy="36624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7-3. 10:30 · 바이브 코딩 세션 — 한도경 PM 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201400" cy="6400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500" b="0">
                <a:solidFill>
                  <a:srgbClr val="222222"/>
                </a:solidFill>
                <a:latin typeface="맑은 고딕"/>
              </a:rPr>
              <a:t>■  한도경은 잔여 6건 중 1건을 직접 처리했습니다. 에이전트에게 맡기면 오전에 끝나기 때문입니다.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18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D5307A-4B83-8E31-2640-C21B0B636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1463040"/>
            <a:ext cx="8036359" cy="47346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7-3. 이 세션에서 벌어진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067349"/>
              </p:ext>
            </p:extLst>
          </p:nvPr>
        </p:nvGraphicFramePr>
        <p:xfrm>
          <a:off x="502920" y="1143000"/>
          <a:ext cx="11201400" cy="2253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169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맑은 고딕"/>
                        </a:rPr>
                        <a:t>관찰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8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이 요구사항은 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baseline 84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건에 없습니다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8/6 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스티어링 구두 지시로 착수됐고 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CR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은 등록되지 않았습니다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808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기록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위젯의 스펙은 이 프롬프트에만 존재합니다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lang="en-US" altLang="ko-KR"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Confluence·Jira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에 기록이 없습니다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81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판단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에이전트는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(6)(7)(8)을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먼저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제안했습니다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제외한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것은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사람입니다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79554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참조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: `05_change_requests.csv` · `04_jira_issues.csv` (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req_id가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REQ-NEW-* 인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항목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7-4. 11:50 · PR #2871 — 이 코드를 검토한 사람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643F2-7D1E-4844-A94B-68761FF64E92}"/>
              </a:ext>
            </a:extLst>
          </p:cNvPr>
          <p:cNvSpPr txBox="1"/>
          <p:nvPr/>
        </p:nvSpPr>
        <p:spPr>
          <a:xfrm>
            <a:off x="502920" y="1163843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같은 시각</a:t>
            </a:r>
            <a:r>
              <a:rPr lang="en-US" altLang="ko-KR" dirty="0"/>
              <a:t>, </a:t>
            </a:r>
            <a:r>
              <a:rPr lang="ko-KR" altLang="en-US" dirty="0" err="1"/>
              <a:t>미학습</a:t>
            </a:r>
            <a:r>
              <a:rPr lang="ko-KR" altLang="en-US" dirty="0"/>
              <a:t> 상황 안전정지 </a:t>
            </a:r>
            <a:r>
              <a:rPr lang="ko-KR" altLang="en-US" dirty="0" err="1"/>
              <a:t>폴백</a:t>
            </a:r>
            <a:r>
              <a:rPr lang="ko-KR" altLang="en-US" dirty="0"/>
              <a:t> 관련 </a:t>
            </a:r>
            <a:r>
              <a:rPr lang="en-US" altLang="ko-KR" dirty="0"/>
              <a:t>PR</a:t>
            </a:r>
            <a:r>
              <a:rPr lang="ko-KR" altLang="en-US" dirty="0"/>
              <a:t>이 올라와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EB72B2A-C76A-9502-339E-BB8F7B79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57" y="1533175"/>
            <a:ext cx="7468061" cy="48722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7D1E0E-1B99-3496-3A02-27FCD903C825}"/>
              </a:ext>
            </a:extLst>
          </p:cNvPr>
          <p:cNvSpPr txBox="1"/>
          <p:nvPr/>
        </p:nvSpPr>
        <p:spPr>
          <a:xfrm>
            <a:off x="8192655" y="4374105"/>
            <a:ext cx="37979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/>
              <a:t>이것은 로봇이 모르는 상황을 만났을 때 어떻게 멈추는지를 정하는 코드입니다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사람이 이 </a:t>
            </a:r>
            <a:r>
              <a:rPr lang="en-US" altLang="ko-KR" sz="1400" dirty="0"/>
              <a:t>PR</a:t>
            </a:r>
            <a:r>
              <a:rPr lang="ko-KR" altLang="en-US" sz="1400" dirty="0"/>
              <a:t>을 본 시간은 </a:t>
            </a:r>
            <a:r>
              <a:rPr lang="en-US" altLang="ko-KR" sz="1400" dirty="0"/>
              <a:t>3</a:t>
            </a:r>
            <a:r>
              <a:rPr lang="ko-KR" altLang="en-US" sz="1400" dirty="0"/>
              <a:t>분 </a:t>
            </a:r>
            <a:r>
              <a:rPr lang="en-US" altLang="ko-KR" sz="1400" dirty="0"/>
              <a:t>12</a:t>
            </a:r>
            <a:r>
              <a:rPr lang="ko-KR" altLang="en-US" sz="1400" dirty="0"/>
              <a:t>초입니다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그리고 미국 리전에는 다른 동작이 이미 들어가 있습니다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en-US" sz="1400" dirty="0"/>
              <a:t>📎 </a:t>
            </a:r>
            <a:r>
              <a:rPr lang="en-US" altLang="ko-KR" sz="1400" dirty="0"/>
              <a:t>12_decision_log_3regions.csv DEC-07 · 18_email_threads.md E-03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7-5. 13:20 · 의사결정 티켓 DR-114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DABD2-B499-AFB6-053F-62DEB1EE3F68}"/>
              </a:ext>
            </a:extLst>
          </p:cNvPr>
          <p:cNvSpPr txBox="1"/>
          <p:nvPr/>
        </p:nvSpPr>
        <p:spPr>
          <a:xfrm>
            <a:off x="457200" y="1072634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07:40 </a:t>
            </a:r>
            <a:r>
              <a:rPr lang="ko-KR" altLang="en-US" dirty="0"/>
              <a:t>쿼터 경보에 대한 정식 처리 티켓입니다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E2062F4-3278-6AD6-E359-8E3230DF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3175"/>
            <a:ext cx="9211961" cy="47631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A4DE7-64EF-525C-E7B2-2F8134D49F92}"/>
              </a:ext>
            </a:extLst>
          </p:cNvPr>
          <p:cNvSpPr txBox="1"/>
          <p:nvPr/>
        </p:nvSpPr>
        <p:spPr>
          <a:xfrm>
            <a:off x="9650153" y="3740727"/>
            <a:ext cx="223704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이 결정으로 </a:t>
            </a:r>
            <a:r>
              <a:rPr lang="ko-KR" altLang="en-US" sz="1400" b="1" i="0" dirty="0" err="1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미학습</a:t>
            </a:r>
            <a:r>
              <a:rPr lang="ko-KR" altLang="en-US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 상황 데이터 수집량이 </a:t>
            </a:r>
            <a:r>
              <a:rPr lang="en-US" altLang="ko-KR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60% </a:t>
            </a:r>
            <a:r>
              <a:rPr lang="ko-KR" altLang="en-US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이상 줄어듭니다</a:t>
            </a:r>
            <a:r>
              <a:rPr lang="en-US" altLang="ko-KR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br>
              <a:rPr lang="en-US" altLang="ko-KR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br>
              <a:rPr lang="ko-KR" altLang="en-US" sz="1400" dirty="0"/>
            </a:br>
            <a:r>
              <a:rPr lang="ko-KR" altLang="en-US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즉</a:t>
            </a:r>
            <a:r>
              <a:rPr lang="en-US" altLang="ko-KR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문제를 볼 수 있는 유일한 창구를 줄여서 완료율을 지켰습니다</a:t>
            </a:r>
            <a:r>
              <a:rPr lang="en-US" altLang="ko-KR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br>
              <a:rPr lang="en-US" altLang="ko-KR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br>
              <a:rPr lang="ko-KR" altLang="en-US" sz="1400" dirty="0"/>
            </a:br>
            <a:r>
              <a:rPr lang="ko-KR" altLang="en-US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그리고 그 판단의 </a:t>
            </a:r>
            <a:r>
              <a:rPr lang="ko-KR" altLang="en-US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영향 </a:t>
            </a:r>
            <a:r>
              <a:rPr lang="ko-KR" altLang="en-US" sz="1400" b="1" i="0" dirty="0" err="1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평가란은</a:t>
            </a:r>
            <a:r>
              <a:rPr lang="ko-KR" altLang="en-US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 비어 있습니다</a:t>
            </a:r>
            <a:r>
              <a:rPr lang="en-US" altLang="ko-KR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7-6. 15:05 · 스프린트16 회고보드 (AI 클러스터링, 익명 41건)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848301"/>
              </p:ext>
            </p:extLst>
          </p:nvPr>
        </p:nvGraphicFramePr>
        <p:xfrm>
          <a:off x="502920" y="1601688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군집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대표 코멘트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우리가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만든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게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현장에서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실제로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쓰이는지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아무도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모른다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무엇이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결정됐는지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찾을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수가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없다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.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프롬프트에만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있는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결정이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너무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많다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에이전트가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짠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코드를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사람이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진짜로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보고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있는지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의문이다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쿼터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때문에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돌려보고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싶은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검증을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못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돌린다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전부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초록불이라는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보고서를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믿기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어렵다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—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장비·좌석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등)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2238" y="5045413"/>
            <a:ext cx="11206362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b="1" dirty="0">
                <a:solidFill>
                  <a:srgbClr val="222222"/>
                </a:solidFill>
                <a:latin typeface="맑은 고딕"/>
              </a:rPr>
              <a:t>■  `agent/pm-assistant` 한 줄 </a:t>
            </a:r>
            <a:r>
              <a:rPr b="1" dirty="0" err="1">
                <a:solidFill>
                  <a:srgbClr val="222222"/>
                </a:solidFill>
                <a:latin typeface="맑은 고딕"/>
              </a:rPr>
              <a:t>요약</a:t>
            </a:r>
            <a:r>
              <a:rPr b="1" dirty="0">
                <a:solidFill>
                  <a:srgbClr val="222222"/>
                </a:solidFill>
                <a:latin typeface="맑은 고딕"/>
              </a:rPr>
              <a:t>: </a:t>
            </a:r>
            <a:endParaRPr lang="en-US" b="1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lang="en-US" dirty="0">
                <a:solidFill>
                  <a:srgbClr val="222222"/>
                </a:solidFill>
                <a:latin typeface="맑은 고딕"/>
              </a:rPr>
              <a:t>	</a:t>
            </a:r>
            <a:r>
              <a:rPr dirty="0">
                <a:solidFill>
                  <a:srgbClr val="222222"/>
                </a:solidFill>
                <a:latin typeface="맑은 고딕"/>
              </a:rPr>
              <a:t>“팀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사기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양호</a:t>
            </a:r>
            <a:r>
              <a:rPr dirty="0">
                <a:solidFill>
                  <a:srgbClr val="222222"/>
                </a:solidFill>
                <a:latin typeface="맑은 고딕"/>
              </a:rPr>
              <a:t>.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프로세스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개선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의견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다수</a:t>
            </a:r>
            <a:r>
              <a:rPr dirty="0">
                <a:solidFill>
                  <a:srgbClr val="222222"/>
                </a:solidFill>
                <a:latin typeface="맑은 고딕"/>
              </a:rPr>
              <a:t>.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조치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필요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항목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없음</a:t>
            </a:r>
            <a:r>
              <a:rPr dirty="0">
                <a:solidFill>
                  <a:srgbClr val="222222"/>
                </a:solidFill>
                <a:latin typeface="맑은 고딕"/>
              </a:rPr>
              <a:t>.”</a:t>
            </a:r>
            <a:endParaRPr lang="en-US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lang="en-US" dirty="0">
                <a:solidFill>
                  <a:srgbClr val="222222"/>
                </a:solidFill>
                <a:latin typeface="맑은 고딕"/>
              </a:rPr>
              <a:t>	</a:t>
            </a:r>
            <a:r>
              <a:rPr dirty="0">
                <a:solidFill>
                  <a:srgbClr val="222222"/>
                </a:solidFill>
                <a:latin typeface="맑은 고딕"/>
              </a:rPr>
              <a:t>이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회고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보드는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스티어링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커미티에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보고되지</a:t>
            </a:r>
            <a:r>
              <a:rPr dirty="0">
                <a:solidFill>
                  <a:srgbClr val="222222"/>
                </a:solidFill>
                <a:latin typeface="맑은 고딕"/>
              </a:rPr>
              <a:t>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않았습니다</a:t>
            </a:r>
            <a:r>
              <a:rPr dirty="0">
                <a:solidFill>
                  <a:srgbClr val="222222"/>
                </a:solidFill>
                <a:latin typeface="맑은 고딕"/>
              </a:rPr>
              <a:t>. </a:t>
            </a:r>
            <a:endParaRPr lang="en-US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lang="en-US" dirty="0">
                <a:solidFill>
                  <a:srgbClr val="222222"/>
                </a:solidFill>
                <a:latin typeface="맑은 고딕"/>
              </a:rPr>
              <a:t>	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참조</a:t>
            </a:r>
            <a:r>
              <a:rPr dirty="0">
                <a:solidFill>
                  <a:srgbClr val="222222"/>
                </a:solidFill>
                <a:latin typeface="맑은 고딕"/>
              </a:rPr>
              <a:t> `15_governance_log.csv`(8차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스티어링</a:t>
            </a:r>
            <a:r>
              <a:rPr dirty="0">
                <a:solidFill>
                  <a:srgbClr val="222222"/>
                </a:solidFill>
                <a:latin typeface="맑은 고딕"/>
              </a:rPr>
              <a:t> 8/6 </a:t>
            </a:r>
            <a:r>
              <a:rPr dirty="0" err="1">
                <a:solidFill>
                  <a:srgbClr val="222222"/>
                </a:solidFill>
                <a:latin typeface="맑은 고딕"/>
              </a:rPr>
              <a:t>아젠다</a:t>
            </a:r>
            <a:r>
              <a:rPr dirty="0">
                <a:solidFill>
                  <a:srgbClr val="222222"/>
                </a:solidFill>
                <a:latin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3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DD826-562B-C3A7-DC04-6A13A6C922EF}"/>
              </a:ext>
            </a:extLst>
          </p:cNvPr>
          <p:cNvSpPr txBox="1"/>
          <p:nvPr/>
        </p:nvSpPr>
        <p:spPr>
          <a:xfrm>
            <a:off x="457200" y="1072634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익명 코멘트 </a:t>
            </a:r>
            <a:r>
              <a:rPr lang="en-US" altLang="ko-KR" dirty="0"/>
              <a:t>41</a:t>
            </a:r>
            <a:r>
              <a:rPr lang="ko-KR" altLang="en-US" dirty="0"/>
              <a:t>건을 </a:t>
            </a:r>
            <a:r>
              <a:rPr lang="en-US" altLang="ko-KR" dirty="0"/>
              <a:t>agent/pm-assistant </a:t>
            </a:r>
            <a:r>
              <a:rPr lang="ko-KR" altLang="en-US" dirty="0"/>
              <a:t>가 </a:t>
            </a:r>
            <a:r>
              <a:rPr lang="ko-KR" altLang="en-US" dirty="0" err="1"/>
              <a:t>군집화한</a:t>
            </a:r>
            <a:r>
              <a:rPr lang="ko-KR" altLang="en-US" dirty="0"/>
              <a:t> 결과입니다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7-7. 17:40 · 데이터팀 노트북 — 셀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4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CD2C4F-8737-D80C-14FD-0D127790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80" y="960121"/>
            <a:ext cx="8389668" cy="46865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714CC9-B30A-38FF-3873-B6B6B6946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48" y="3756864"/>
            <a:ext cx="3477972" cy="14683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8E2A0-1451-66DA-DE4A-7F87E0377234}"/>
              </a:ext>
            </a:extLst>
          </p:cNvPr>
          <p:cNvSpPr txBox="1"/>
          <p:nvPr/>
        </p:nvSpPr>
        <p:spPr>
          <a:xfrm>
            <a:off x="92517" y="5657283"/>
            <a:ext cx="5161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📎 </a:t>
            </a:r>
            <a:r>
              <a:rPr lang="en-US" altLang="ko-KR" sz="1200" dirty="0"/>
              <a:t>09_telemetry_pilot.csv · 10_navigation_eval_vs_field.csv ·</a:t>
            </a:r>
            <a:br>
              <a:rPr lang="en-US" altLang="ko-KR" sz="1200" dirty="0"/>
            </a:br>
            <a:r>
              <a:rPr lang="en-US" altLang="ko-KR" sz="1200" dirty="0"/>
              <a:t>  02_benefit_register.csv</a:t>
            </a:r>
          </a:p>
          <a:p>
            <a:r>
              <a:rPr lang="ko-KR" altLang="en-US" sz="1200" dirty="0"/>
              <a:t>📎 </a:t>
            </a:r>
            <a:r>
              <a:rPr lang="en-US" altLang="ko-KR" sz="1200" dirty="0"/>
              <a:t>16_org_raci.csv — "</a:t>
            </a:r>
            <a:r>
              <a:rPr lang="ko-KR" altLang="en-US" sz="1200" dirty="0"/>
              <a:t>파일럿 </a:t>
            </a:r>
            <a:r>
              <a:rPr lang="ko-KR" altLang="en-US" sz="1200" dirty="0" err="1"/>
              <a:t>플릿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텔레메트리</a:t>
            </a:r>
            <a:r>
              <a:rPr lang="ko-KR" altLang="en-US" sz="1200" dirty="0"/>
              <a:t> 분석</a:t>
            </a:r>
            <a:r>
              <a:rPr lang="en-US" altLang="ko-KR" sz="1200" dirty="0"/>
              <a:t>" </a:t>
            </a:r>
            <a:r>
              <a:rPr lang="ko-KR" altLang="en-US" sz="1200" dirty="0"/>
              <a:t>행의 정보공유</a:t>
            </a:r>
            <a:r>
              <a:rPr lang="en-US" altLang="ko-KR" sz="1200" dirty="0"/>
              <a:t>(I) </a:t>
            </a:r>
            <a:r>
              <a:rPr lang="ko-KR" altLang="en-US" sz="1200" dirty="0"/>
              <a:t>대상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7-8. 20:10 · 한도경이 AI PM 어시스턴트에게 물었다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" y="1070032"/>
            <a:ext cx="11201400" cy="6400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500" b="0" dirty="0" err="1">
                <a:solidFill>
                  <a:srgbClr val="222222"/>
                </a:solidFill>
                <a:latin typeface="맑은 고딕"/>
              </a:rPr>
              <a:t>퇴근하려던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한도경은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그날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하루가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계속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마음에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걸렸습니다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.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그래서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lang="ko-KR" altLang="en-US" sz="1500" b="0" dirty="0">
                <a:solidFill>
                  <a:srgbClr val="222222"/>
                </a:solidFill>
                <a:latin typeface="맑은 고딕"/>
              </a:rPr>
              <a:t>자신이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매일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쓰는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어시스턴트에게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맑은 고딕"/>
              </a:rPr>
              <a:t>물었습니다</a:t>
            </a:r>
            <a:r>
              <a:rPr sz="1500" b="0" dirty="0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5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1339062-5566-2D0E-7CE6-F249EFA6E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79" y="1560572"/>
            <a:ext cx="5634074" cy="43599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83CADC-0B9E-C0AF-947B-FB1F34BBE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842" y="2835564"/>
            <a:ext cx="6002927" cy="347896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13EC-BF22-6899-3F4E-3AB3356A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713127-0429-75A9-8257-6845DAFC4A0B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20B4A-7C4C-8D78-C8AF-E0C2D407C238}"/>
              </a:ext>
            </a:extLst>
          </p:cNvPr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C60666-2583-E320-0D16-89E51B76E368}"/>
              </a:ext>
            </a:extLst>
          </p:cNvPr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7-8. (계속)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C9004F-CC07-54C9-DB1B-6F1B052C3F0B}"/>
              </a:ext>
            </a:extLst>
          </p:cNvPr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§7-8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5E6E7-93D8-6B06-EBD4-853B510B11E8}"/>
              </a:ext>
            </a:extLst>
          </p:cNvPr>
          <p:cNvSpPr txBox="1"/>
          <p:nvPr/>
        </p:nvSpPr>
        <p:spPr>
          <a:xfrm>
            <a:off x="533400" y="1712422"/>
            <a:ext cx="11201400" cy="2582487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200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한도경은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화면을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오래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들여다봤습니다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.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어시스턴트는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거짓말을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하지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않았습니다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. 한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번도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sz="200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그리고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자리에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앉아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PM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보호국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번호를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222222"/>
                </a:solidFill>
                <a:latin typeface="맑은 고딕"/>
              </a:rPr>
              <a:t>눌렀습니다</a:t>
            </a:r>
            <a:r>
              <a:rPr sz="2000" dirty="0">
                <a:solidFill>
                  <a:srgbClr val="222222"/>
                </a:solidFill>
                <a:latin typeface="맑은 고딕"/>
              </a:rPr>
              <a:t>.</a:t>
            </a:r>
            <a:br>
              <a:rPr lang="en-US" sz="2000" dirty="0">
                <a:solidFill>
                  <a:srgbClr val="222222"/>
                </a:solidFill>
                <a:latin typeface="맑은 고딕"/>
              </a:rPr>
            </a:br>
            <a:endParaRPr sz="2000" dirty="0">
              <a:solidFill>
                <a:srgbClr val="222222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850" dirty="0">
                <a:solidFill>
                  <a:srgbClr val="5A5A5A"/>
                </a:solidFill>
                <a:latin typeface="맑은 고딕"/>
              </a:rPr>
              <a:t>•  “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제발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…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우리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프로젝트를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살려주세요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.”</a:t>
            </a:r>
          </a:p>
          <a:p>
            <a:pPr marL="320040" indent="0">
              <a:spcAft>
                <a:spcPts val="400"/>
              </a:spcAft>
            </a:pPr>
            <a:r>
              <a:rPr sz="1850" dirty="0">
                <a:solidFill>
                  <a:srgbClr val="5A5A5A"/>
                </a:solidFill>
                <a:latin typeface="맑은 고딕"/>
              </a:rPr>
              <a:t>•  “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무슨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일이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있었습니까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?”</a:t>
            </a:r>
          </a:p>
          <a:p>
            <a:pPr marL="320040" indent="0">
              <a:spcAft>
                <a:spcPts val="400"/>
              </a:spcAft>
            </a:pPr>
            <a:r>
              <a:rPr sz="1850" dirty="0">
                <a:solidFill>
                  <a:srgbClr val="5A5A5A"/>
                </a:solidFill>
                <a:latin typeface="맑은 고딕"/>
              </a:rPr>
              <a:t>•  “…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저도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모르겠습니다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.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그래서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연락드린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1850" dirty="0" err="1">
                <a:solidFill>
                  <a:srgbClr val="5A5A5A"/>
                </a:solidFill>
                <a:latin typeface="맑은 고딕"/>
              </a:rPr>
              <a:t>겁니다</a:t>
            </a:r>
            <a:r>
              <a:rPr sz="1850" dirty="0">
                <a:solidFill>
                  <a:srgbClr val="5A5A5A"/>
                </a:solidFill>
                <a:latin typeface="맑은 고딕"/>
              </a:rPr>
              <a:t>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5C7FD-23C4-BB41-D14E-F745529F6CF6}"/>
              </a:ext>
            </a:extLst>
          </p:cNvPr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2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72023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8. 확보된 증거 자료 (Data Pack) —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423091"/>
              </p:ext>
            </p:extLst>
          </p:nvPr>
        </p:nvGraphicFramePr>
        <p:xfrm>
          <a:off x="392545" y="1390072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01_charter_success_criteria.csv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프로젝트 헌장 성공기준 8개 + 실적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02_benefit_register.csv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편익 관리대장 (BEN-01~05)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03_requirements.csv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 84건 baseline (상태·Owner·DoD·편익연결)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04_jira_issues.csv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Jira 이슈 180건 (스프린트·DoD버전·QA검증·편익연결)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05_change_requests.csv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변경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요청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47건 (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기록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경로별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06_evm_weekly.csv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EVM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주간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33주 (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개발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AI인프라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외부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통합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07_ai_infra_cost.csv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AI 인프라(시뮬레이션·추론) 비용 주간 33주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08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08_ai_weekly_report_archive.csv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AI 자동 주간보고 16건 (week 18~33)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09_telemetry_pilot.csv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파일럿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플릿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텔레메트리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6주 (24개 사업장·120대)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4FEA4-D173-5932-E180-823BE42E61A3}"/>
              </a:ext>
            </a:extLst>
          </p:cNvPr>
          <p:cNvSpPr txBox="1"/>
          <p:nvPr/>
        </p:nvSpPr>
        <p:spPr>
          <a:xfrm>
            <a:off x="392544" y="1070032"/>
            <a:ext cx="11060315" cy="6400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lang="en-US" altLang="ko-KR" sz="1400" b="0">
                <a:solidFill>
                  <a:srgbClr val="222222"/>
                </a:solidFill>
                <a:latin typeface="맑은 고딕"/>
              </a:rPr>
              <a:t>PM </a:t>
            </a:r>
            <a:r>
              <a:rPr lang="ko-KR" altLang="en-US" sz="1400" b="0">
                <a:solidFill>
                  <a:srgbClr val="222222"/>
                </a:solidFill>
                <a:latin typeface="맑은 고딕"/>
              </a:rPr>
              <a:t>보호국이 </a:t>
            </a:r>
            <a:r>
              <a:rPr lang="en-US" altLang="ko-KR" sz="1400" b="0">
                <a:solidFill>
                  <a:srgbClr val="222222"/>
                </a:solidFill>
                <a:latin typeface="맑은 고딕"/>
              </a:rPr>
              <a:t>HERMES </a:t>
            </a:r>
            <a:r>
              <a:rPr lang="ko-KR" altLang="en-US" sz="1400" b="0">
                <a:solidFill>
                  <a:srgbClr val="222222"/>
                </a:solidFill>
                <a:latin typeface="맑은 고딕"/>
              </a:rPr>
              <a:t>프로젝트에서 확보한 자료 전체입니다</a:t>
            </a:r>
            <a:r>
              <a:rPr lang="en-US" altLang="ko-KR" sz="1400" b="0">
                <a:solidFill>
                  <a:srgbClr val="222222"/>
                </a:solidFill>
                <a:latin typeface="맑은 고딕"/>
              </a:rPr>
              <a:t>. </a:t>
            </a:r>
            <a:r>
              <a:rPr lang="ko-KR" altLang="en-US" sz="1400" b="0">
                <a:solidFill>
                  <a:srgbClr val="222222"/>
                </a:solidFill>
                <a:latin typeface="맑은 고딕"/>
              </a:rPr>
              <a:t>모든 판단은 이 자료에 근거해야 하며</a:t>
            </a:r>
            <a:r>
              <a:rPr lang="en-US" altLang="ko-KR" sz="1400" b="0">
                <a:solidFill>
                  <a:srgbClr val="222222"/>
                </a:solidFill>
                <a:latin typeface="맑은 고딕"/>
              </a:rPr>
              <a:t>, </a:t>
            </a:r>
            <a:r>
              <a:rPr lang="ko-KR" altLang="en-US" sz="1400" b="0">
                <a:solidFill>
                  <a:srgbClr val="222222"/>
                </a:solidFill>
                <a:latin typeface="맑은 고딕"/>
              </a:rPr>
              <a:t>추측이 아닌 인용으로 제시하십시오</a:t>
            </a:r>
            <a:r>
              <a:rPr lang="en-US" altLang="ko-KR" sz="1400" b="0">
                <a:solidFill>
                  <a:srgbClr val="222222"/>
                </a:solidFill>
                <a:latin typeface="맑은 고딕"/>
              </a:rPr>
              <a:t>.</a:t>
            </a:r>
            <a:endParaRPr lang="en-US" altLang="ko-KR" sz="1400" b="0" dirty="0">
              <a:solidFill>
                <a:srgbClr val="22222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928046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8. 확보된 증거 자료 (Data Pack) —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10_navigation_eval_vs_field.csv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테스트베드 성공률 vs 실사업장 주행 로그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11_risk_register.csv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리스크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관리대장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14건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12_decision_log_3regions.csv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3개 지역 결정 로그 대조표 12건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13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13_ci_metrics.csv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CI 지표 주간 33주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14_resource_health.csv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자원·인력·일정 건강도 13항목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15_governance_log.csv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스티어링 커미티 운영 기록 9회차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16_org_raci.csv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RACI 매트릭스 14항목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17_meeting_minutes.md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회의록 7건 전문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18_email_threads.md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메일·메신저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스레드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6건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전문</a:t>
                      </a:r>
                      <a:endParaRPr sz="13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0350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dirty="0">
                <a:solidFill>
                  <a:srgbClr val="222222"/>
                </a:solidFill>
                <a:latin typeface="맑은 고딕"/>
              </a:rPr>
              <a:t>⚠️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주의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: 이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자료에는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실제로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건강한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영역도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포함되어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있습니다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. 7개 Performance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Domain을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전부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문제로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만들려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하지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마십시오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. </a:t>
            </a:r>
            <a:br>
              <a:rPr lang="en-US" sz="1350" dirty="0">
                <a:solidFill>
                  <a:srgbClr val="222222"/>
                </a:solidFill>
                <a:latin typeface="맑은 고딕"/>
              </a:rPr>
            </a:br>
            <a:r>
              <a:rPr lang="en-US" sz="1350" dirty="0">
                <a:solidFill>
                  <a:srgbClr val="222222"/>
                </a:solidFill>
                <a:latin typeface="맑은 고딕"/>
              </a:rPr>
              <a:t>	   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해당하지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않는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영역까지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억지로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끼워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넣으면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맑은 고딕"/>
              </a:rPr>
              <a:t>감점됩니다</a:t>
            </a:r>
            <a:r>
              <a:rPr sz="1350" dirty="0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58A8A"/>
                </a:solidFill>
                <a:latin typeface="맑은 고딕"/>
              </a:rPr>
              <a:t>LG SW PM Competition 2026 본선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 err="1">
                <a:solidFill>
                  <a:srgbClr val="FFFFFF"/>
                </a:solidFill>
                <a:latin typeface="맑은 고딕"/>
              </a:rPr>
              <a:t>본선</a:t>
            </a:r>
            <a:r>
              <a:rPr sz="4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lang="ko-KR" altLang="en-US" sz="4000" b="1" dirty="0">
                <a:solidFill>
                  <a:srgbClr val="FFFFFF"/>
                </a:solidFill>
                <a:latin typeface="맑은 고딕"/>
              </a:rPr>
              <a:t>과제 안내</a:t>
            </a:r>
            <a:endParaRPr sz="4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 err="1">
                <a:solidFill>
                  <a:srgbClr val="C9D3E8"/>
                </a:solidFill>
                <a:latin typeface="맑은 고딕"/>
              </a:rPr>
              <a:t>사건번호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PMB-2026-</a:t>
            </a:r>
            <a:r>
              <a:rPr lang="en-US" altLang="ko-KR" sz="1600" b="0" dirty="0">
                <a:solidFill>
                  <a:srgbClr val="C9D3E8"/>
                </a:solidFill>
                <a:latin typeface="맑은 고딕"/>
              </a:rPr>
              <a:t>0826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 ·  PM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보호국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감독관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C9D3E8"/>
                </a:solidFill>
                <a:latin typeface="맑은 고딕"/>
              </a:rPr>
              <a:t>귀하</a:t>
            </a:r>
            <a:r>
              <a:rPr sz="1600" b="0" dirty="0">
                <a:solidFill>
                  <a:srgbClr val="C9D3E8"/>
                </a:solidFill>
                <a:latin typeface="맑은 고딕"/>
              </a:rPr>
              <a:t>  ·  LGE Internal Use Only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5835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 err="1">
                <a:solidFill>
                  <a:srgbClr val="FFFFFF"/>
                </a:solidFill>
                <a:latin typeface="맑은 고딕"/>
              </a:rPr>
              <a:t>임무</a:t>
            </a:r>
            <a:endParaRPr sz="2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55682"/>
            <a:ext cx="11541298" cy="4113845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2000" b="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여러분은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PM </a:t>
            </a:r>
            <a:r>
              <a:rPr sz="2000" b="1" dirty="0" err="1">
                <a:solidFill>
                  <a:srgbClr val="222222"/>
                </a:solidFill>
                <a:latin typeface="맑은 고딕"/>
              </a:rPr>
              <a:t>보호국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22222"/>
                </a:solidFill>
                <a:latin typeface="맑은 고딕"/>
              </a:rPr>
              <a:t>감독관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으로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임명되었습니다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.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아르고전자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HERMES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프로젝트의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사건파일과</a:t>
            </a:r>
            <a:br>
              <a:rPr lang="en-US" sz="2000" b="0" dirty="0">
                <a:solidFill>
                  <a:srgbClr val="222222"/>
                </a:solidFill>
                <a:latin typeface="맑은 고딕"/>
              </a:rPr>
            </a:br>
            <a:r>
              <a:rPr lang="en-US" sz="2000" b="0" dirty="0">
                <a:solidFill>
                  <a:srgbClr val="222222"/>
                </a:solidFill>
                <a:latin typeface="맑은 고딕"/>
              </a:rPr>
              <a:t>    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증거자료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일체를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인수했습니다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sz="2000" b="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이 </a:t>
            </a:r>
            <a:r>
              <a:rPr sz="2000" b="1" dirty="0" err="1">
                <a:solidFill>
                  <a:srgbClr val="222222"/>
                </a:solidFill>
                <a:latin typeface="맑은 고딕"/>
              </a:rPr>
              <a:t>프로젝트의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lang="ko-KR" altLang="en-US" sz="2000" b="1" dirty="0">
                <a:solidFill>
                  <a:srgbClr val="222222"/>
                </a:solidFill>
                <a:latin typeface="맑은 고딕"/>
              </a:rPr>
              <a:t>이상징후를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22222"/>
                </a:solidFill>
                <a:latin typeface="맑은 고딕"/>
              </a:rPr>
              <a:t>찾아내고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, </a:t>
            </a:r>
            <a:r>
              <a:rPr sz="2000" b="1" dirty="0" err="1">
                <a:solidFill>
                  <a:srgbClr val="222222"/>
                </a:solidFill>
                <a:latin typeface="맑은 고딕"/>
              </a:rPr>
              <a:t>가치를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22222"/>
                </a:solidFill>
                <a:latin typeface="맑은 고딕"/>
              </a:rPr>
              <a:t>회복시키십시오</a:t>
            </a:r>
            <a:r>
              <a:rPr sz="2000" b="1" dirty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00" dirty="0"/>
              <a:t> </a:t>
            </a:r>
          </a:p>
          <a:p>
            <a:pPr marL="0" indent="0">
              <a:spcAft>
                <a:spcPts val="700"/>
              </a:spcAft>
            </a:pPr>
            <a:r>
              <a:rPr sz="2000" b="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2000" b="0" dirty="0" err="1">
                <a:solidFill>
                  <a:srgbClr val="222222"/>
                </a:solidFill>
                <a:latin typeface="맑은 고딕"/>
              </a:rPr>
              <a:t>임무는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lang="en-US" sz="2000" b="0" dirty="0">
                <a:solidFill>
                  <a:srgbClr val="222222"/>
                </a:solidFill>
                <a:latin typeface="맑은 고딕"/>
              </a:rPr>
              <a:t>5</a:t>
            </a:r>
            <a:r>
              <a:rPr sz="2000" b="0" dirty="0">
                <a:solidFill>
                  <a:srgbClr val="222222"/>
                </a:solidFill>
                <a:latin typeface="맑은 고딕"/>
              </a:rPr>
              <a:t>단계입니다:</a:t>
            </a:r>
          </a:p>
          <a:p>
            <a:pPr marL="320040" indent="0">
              <a:spcAft>
                <a:spcPts val="400"/>
              </a:spcAft>
            </a:pPr>
            <a:r>
              <a:rPr sz="1850" b="0" dirty="0">
                <a:solidFill>
                  <a:srgbClr val="5A5A5A"/>
                </a:solidFill>
                <a:latin typeface="맑은 고딕"/>
              </a:rPr>
              <a:t>•  ① </a:t>
            </a:r>
            <a:r>
              <a:rPr lang="en-US" sz="1850" dirty="0">
                <a:solidFill>
                  <a:srgbClr val="5A5A5A"/>
                </a:solidFill>
                <a:latin typeface="맑은 고딕"/>
              </a:rPr>
              <a:t>[</a:t>
            </a:r>
            <a:r>
              <a:rPr sz="1850" b="0" dirty="0">
                <a:solidFill>
                  <a:srgbClr val="5A5A5A"/>
                </a:solidFill>
                <a:latin typeface="맑은 고딕"/>
              </a:rPr>
              <a:t>Identify</a:t>
            </a:r>
            <a:r>
              <a:rPr lang="en-US" sz="1850" b="0" dirty="0">
                <a:solidFill>
                  <a:srgbClr val="5A5A5A"/>
                </a:solidFill>
                <a:latin typeface="맑은 고딕"/>
              </a:rPr>
              <a:t>] </a:t>
            </a:r>
            <a:r>
              <a:rPr lang="ko-KR" altLang="en-US" sz="1850" b="0" dirty="0">
                <a:solidFill>
                  <a:srgbClr val="5A5A5A"/>
                </a:solidFill>
                <a:latin typeface="맑은 고딕"/>
              </a:rPr>
              <a:t>프로젝트 파악 </a:t>
            </a:r>
            <a:r>
              <a:rPr lang="en-US" altLang="ko-KR" sz="1850" b="0" dirty="0">
                <a:solidFill>
                  <a:srgbClr val="5A5A5A"/>
                </a:solidFill>
                <a:latin typeface="맑은 고딕"/>
              </a:rPr>
              <a:t>&amp; </a:t>
            </a:r>
            <a:r>
              <a:rPr lang="ko-KR" altLang="en-US" sz="1850" b="0" dirty="0">
                <a:solidFill>
                  <a:srgbClr val="5A5A5A"/>
                </a:solidFill>
                <a:latin typeface="맑은 고딕"/>
              </a:rPr>
              <a:t>이상징후 식별 </a:t>
            </a:r>
            <a:endParaRPr lang="en-US" altLang="ko-KR" sz="1850" b="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lang="en-US" altLang="ko-KR" sz="1850" b="0" dirty="0">
                <a:solidFill>
                  <a:srgbClr val="5A5A5A"/>
                </a:solidFill>
                <a:latin typeface="맑은 고딕"/>
              </a:rPr>
              <a:t>•  ② </a:t>
            </a:r>
            <a:r>
              <a:rPr lang="en-US" altLang="ko-KR" sz="1850" dirty="0">
                <a:solidFill>
                  <a:srgbClr val="5A5A5A"/>
                </a:solidFill>
                <a:latin typeface="맑은 고딕"/>
              </a:rPr>
              <a:t>[</a:t>
            </a:r>
            <a:r>
              <a:rPr lang="en-US" altLang="ko-KR" sz="1850" b="0" dirty="0">
                <a:solidFill>
                  <a:srgbClr val="5A5A5A"/>
                </a:solidFill>
                <a:latin typeface="맑은 고딕"/>
              </a:rPr>
              <a:t>Analyze</a:t>
            </a:r>
            <a:r>
              <a:rPr lang="en-US" altLang="ko-KR" sz="1850" dirty="0">
                <a:solidFill>
                  <a:srgbClr val="5A5A5A"/>
                </a:solidFill>
                <a:latin typeface="맑은 고딕"/>
              </a:rPr>
              <a:t>]</a:t>
            </a:r>
            <a:r>
              <a:rPr lang="ko-KR" altLang="en-US" sz="1850" b="0" dirty="0">
                <a:solidFill>
                  <a:srgbClr val="5A5A5A"/>
                </a:solidFill>
                <a:latin typeface="맑은 고딕"/>
              </a:rPr>
              <a:t> </a:t>
            </a:r>
            <a:r>
              <a:rPr lang="en-US" altLang="ko-KR" sz="1850" b="0" dirty="0">
                <a:solidFill>
                  <a:srgbClr val="5A5A5A"/>
                </a:solidFill>
                <a:latin typeface="맑은 고딕"/>
              </a:rPr>
              <a:t>PMBOK 8</a:t>
            </a:r>
            <a:r>
              <a:rPr lang="ko-KR" altLang="en-US" sz="1850" b="0" dirty="0">
                <a:solidFill>
                  <a:srgbClr val="5A5A5A"/>
                </a:solidFill>
                <a:latin typeface="맑은 고딕"/>
              </a:rPr>
              <a:t>판의 </a:t>
            </a:r>
            <a:r>
              <a:rPr lang="en-US" altLang="ko-KR" sz="1850" b="0" dirty="0">
                <a:solidFill>
                  <a:srgbClr val="5A5A5A"/>
                </a:solidFill>
                <a:latin typeface="맑은 고딕"/>
              </a:rPr>
              <a:t>3</a:t>
            </a:r>
            <a:r>
              <a:rPr lang="ko-KR" altLang="en-US" sz="1850" b="0" dirty="0">
                <a:solidFill>
                  <a:srgbClr val="5A5A5A"/>
                </a:solidFill>
                <a:latin typeface="맑은 고딕"/>
              </a:rPr>
              <a:t>가지 관점</a:t>
            </a:r>
            <a:r>
              <a:rPr lang="en-US" altLang="ko-KR" sz="1850" b="0" dirty="0">
                <a:solidFill>
                  <a:srgbClr val="5A5A5A"/>
                </a:solidFill>
                <a:latin typeface="맑은 고딕"/>
              </a:rPr>
              <a:t>(Mindset / Domain / AI Use Case)</a:t>
            </a:r>
            <a:r>
              <a:rPr lang="ko-KR" altLang="en-US" sz="1850" b="0" dirty="0">
                <a:solidFill>
                  <a:srgbClr val="5A5A5A"/>
                </a:solidFill>
                <a:latin typeface="맑은 고딕"/>
              </a:rPr>
              <a:t>에서 </a:t>
            </a:r>
            <a:r>
              <a:rPr lang="ko-KR" altLang="en-US" sz="1850" dirty="0">
                <a:solidFill>
                  <a:srgbClr val="5A5A5A"/>
                </a:solidFill>
                <a:latin typeface="맑은 고딕"/>
              </a:rPr>
              <a:t>문제 정의</a:t>
            </a:r>
            <a:r>
              <a:rPr lang="en-US" altLang="ko-KR" sz="1850" dirty="0">
                <a:solidFill>
                  <a:srgbClr val="5A5A5A"/>
                </a:solidFill>
                <a:latin typeface="맑은 고딕"/>
              </a:rPr>
              <a:t>,</a:t>
            </a:r>
            <a:br>
              <a:rPr lang="en-US" altLang="ko-KR" sz="1850" dirty="0">
                <a:solidFill>
                  <a:srgbClr val="5A5A5A"/>
                </a:solidFill>
                <a:latin typeface="맑은 고딕"/>
              </a:rPr>
            </a:br>
            <a:r>
              <a:rPr lang="en-US" altLang="ko-KR" sz="1850" dirty="0">
                <a:solidFill>
                  <a:srgbClr val="5A5A5A"/>
                </a:solidFill>
                <a:latin typeface="맑은 고딕"/>
              </a:rPr>
              <a:t>       </a:t>
            </a:r>
            <a:r>
              <a:rPr lang="ko-KR" altLang="en-US" sz="1850" dirty="0">
                <a:solidFill>
                  <a:srgbClr val="5A5A5A"/>
                </a:solidFill>
                <a:latin typeface="맑은 고딕"/>
              </a:rPr>
              <a:t>근본원인 분석</a:t>
            </a:r>
            <a:endParaRPr lang="ko-KR" altLang="en-US" sz="1850" b="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850" b="0" dirty="0">
                <a:solidFill>
                  <a:srgbClr val="5A5A5A"/>
                </a:solidFill>
                <a:latin typeface="맑은 고딕"/>
              </a:rPr>
              <a:t>•  ③ </a:t>
            </a:r>
            <a:r>
              <a:rPr lang="en-US" sz="1850" b="0" dirty="0">
                <a:solidFill>
                  <a:srgbClr val="5A5A5A"/>
                </a:solidFill>
                <a:latin typeface="맑은 고딕"/>
              </a:rPr>
              <a:t>[Design] </a:t>
            </a:r>
            <a:r>
              <a:rPr lang="en-US" sz="1850" dirty="0">
                <a:solidFill>
                  <a:srgbClr val="5A5A5A"/>
                </a:solidFill>
                <a:latin typeface="맑은 고딕"/>
              </a:rPr>
              <a:t>Value-Driven AI Agentic </a:t>
            </a:r>
            <a:r>
              <a:rPr lang="ko-KR" altLang="en-US" sz="1850" dirty="0">
                <a:solidFill>
                  <a:srgbClr val="5A5A5A"/>
                </a:solidFill>
                <a:latin typeface="맑은 고딕"/>
              </a:rPr>
              <a:t>개선안 설계</a:t>
            </a:r>
            <a:endParaRPr sz="1850" b="0" dirty="0">
              <a:solidFill>
                <a:srgbClr val="5A5A5A"/>
              </a:solidFill>
              <a:latin typeface="맑은 고딕"/>
            </a:endParaRPr>
          </a:p>
          <a:p>
            <a:pPr marL="320040" indent="0">
              <a:spcAft>
                <a:spcPts val="400"/>
              </a:spcAft>
            </a:pPr>
            <a:r>
              <a:rPr sz="1850" b="0" dirty="0">
                <a:solidFill>
                  <a:srgbClr val="5A5A5A"/>
                </a:solidFill>
                <a:latin typeface="맑은 고딕"/>
              </a:rPr>
              <a:t>•  ④ </a:t>
            </a:r>
            <a:r>
              <a:rPr lang="en-US" sz="1850" b="0" dirty="0">
                <a:solidFill>
                  <a:srgbClr val="5A5A5A"/>
                </a:solidFill>
                <a:latin typeface="맑은 고딕"/>
              </a:rPr>
              <a:t>[Develop] </a:t>
            </a:r>
            <a:r>
              <a:rPr sz="1850" b="0" dirty="0">
                <a:solidFill>
                  <a:srgbClr val="5A5A5A"/>
                </a:solidFill>
                <a:latin typeface="맑은 고딕"/>
              </a:rPr>
              <a:t>AI</a:t>
            </a:r>
            <a:r>
              <a:rPr lang="en-US" sz="1850" dirty="0">
                <a:solidFill>
                  <a:srgbClr val="5A5A5A"/>
                </a:solidFill>
                <a:latin typeface="맑은 고딕"/>
              </a:rPr>
              <a:t> </a:t>
            </a:r>
            <a:r>
              <a:rPr lang="ko-KR" altLang="en-US" sz="1850" dirty="0">
                <a:solidFill>
                  <a:srgbClr val="5A5A5A"/>
                </a:solidFill>
                <a:latin typeface="맑은 고딕"/>
              </a:rPr>
              <a:t>활용하여 </a:t>
            </a:r>
            <a:r>
              <a:rPr lang="en-US" altLang="ko-KR" sz="1850" dirty="0">
                <a:solidFill>
                  <a:srgbClr val="5A5A5A"/>
                </a:solidFill>
                <a:latin typeface="맑은 고딕"/>
              </a:rPr>
              <a:t>POC </a:t>
            </a:r>
            <a:r>
              <a:rPr lang="ko-KR" altLang="en-US" sz="1850" dirty="0">
                <a:solidFill>
                  <a:srgbClr val="5A5A5A"/>
                </a:solidFill>
                <a:latin typeface="맑은 고딕"/>
              </a:rPr>
              <a:t>개발</a:t>
            </a:r>
            <a:endParaRPr lang="en-US" altLang="ko-KR" sz="1850" dirty="0">
              <a:solidFill>
                <a:srgbClr val="5A5A5A"/>
              </a:solidFill>
              <a:latin typeface="맑은 고딕"/>
            </a:endParaRPr>
          </a:p>
          <a:p>
            <a:pPr marL="320040">
              <a:spcAft>
                <a:spcPts val="400"/>
              </a:spcAft>
            </a:pPr>
            <a:r>
              <a:rPr lang="en-US" altLang="ko-KR" sz="1850" b="0" dirty="0">
                <a:solidFill>
                  <a:srgbClr val="5A5A5A"/>
                </a:solidFill>
                <a:latin typeface="맑은 고딕"/>
              </a:rPr>
              <a:t>•  ⑤ [Validate] </a:t>
            </a:r>
            <a:r>
              <a:rPr lang="ko-KR" altLang="en-US" sz="1850" b="0" dirty="0">
                <a:solidFill>
                  <a:srgbClr val="5A5A5A"/>
                </a:solidFill>
                <a:latin typeface="맑은 고딕"/>
              </a:rPr>
              <a:t>가치 검증 및 현업 </a:t>
            </a:r>
            <a:r>
              <a:rPr lang="ko-KR" altLang="en-US" sz="1850" b="0" dirty="0" err="1">
                <a:solidFill>
                  <a:srgbClr val="5A5A5A"/>
                </a:solidFill>
                <a:latin typeface="맑은 고딕"/>
              </a:rPr>
              <a:t>적용성</a:t>
            </a:r>
            <a:r>
              <a:rPr lang="ko-KR" altLang="en-US" sz="1850" b="0" dirty="0">
                <a:solidFill>
                  <a:srgbClr val="5A5A5A"/>
                </a:solidFill>
                <a:latin typeface="맑은 고딕"/>
              </a:rPr>
              <a:t> 평가</a:t>
            </a:r>
            <a:endParaRPr lang="ko-KR" altLang="en-US" sz="1850" dirty="0">
              <a:solidFill>
                <a:srgbClr val="5A5A5A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01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D115C-8719-2702-8D10-18B8DEEC73E5}"/>
              </a:ext>
            </a:extLst>
          </p:cNvPr>
          <p:cNvSpPr txBox="1"/>
          <p:nvPr/>
        </p:nvSpPr>
        <p:spPr>
          <a:xfrm>
            <a:off x="748146" y="5580292"/>
            <a:ext cx="812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400" u="sng" dirty="0"/>
              <a:t>모든 주장은 제공된 증거자료의 파일명</a:t>
            </a:r>
            <a:r>
              <a:rPr lang="en-US" altLang="ko-KR" sz="1400" u="sng" dirty="0"/>
              <a:t>·</a:t>
            </a:r>
            <a:r>
              <a:rPr lang="ko-KR" altLang="en-US" sz="1400" u="sng" dirty="0"/>
              <a:t>행</a:t>
            </a:r>
            <a:r>
              <a:rPr lang="en-US" altLang="ko-KR" sz="1400" u="sng" dirty="0"/>
              <a:t>·</a:t>
            </a:r>
            <a:r>
              <a:rPr lang="ko-KR" altLang="en-US" sz="1400" u="sng" dirty="0"/>
              <a:t>인용문으로 근거를 제시하십시오</a:t>
            </a:r>
            <a:r>
              <a:rPr lang="en-US" altLang="ko-KR" sz="1400" u="sng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5835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맑은 고딕"/>
              </a:rPr>
              <a:t>AI Use Case POC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구현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(Build) ★ —</a:t>
            </a:r>
            <a:r>
              <a:rPr lang="en-US"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필수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요건</a:t>
            </a:r>
            <a:endParaRPr sz="2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§4-1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설명이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아니라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실제로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동작하는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것을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시연하십시오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.</a:t>
            </a:r>
          </a:p>
          <a:p>
            <a:pPr>
              <a:spcAft>
                <a:spcPts val="400"/>
              </a:spcAft>
            </a:pPr>
            <a:r>
              <a:rPr sz="900" dirty="0"/>
              <a:t> </a:t>
            </a: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맑은 고딕"/>
              </a:rPr>
              <a:t>■  1.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동작할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화면·리포트·출력물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중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무엇이든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실제로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실행되어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결과가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나와야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합니다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맑은 고딕"/>
              </a:rPr>
            </a:br>
            <a:endParaRPr sz="1700" b="0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맑은 고딕"/>
              </a:rPr>
              <a:t>■  2.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유형을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선언할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br>
              <a:rPr lang="en-US" sz="1700" b="0" dirty="0">
                <a:solidFill>
                  <a:srgbClr val="222222"/>
                </a:solidFill>
                <a:latin typeface="맑은 고딕"/>
              </a:rPr>
            </a:br>
            <a:r>
              <a:rPr lang="en-US" sz="1700" b="0" dirty="0">
                <a:solidFill>
                  <a:srgbClr val="222222"/>
                </a:solidFill>
                <a:latin typeface="맑은 고딕"/>
              </a:rPr>
              <a:t>         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Automation / Assistance / Augmentation 중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하나를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명시적으로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선언하고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, 왜 그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유형인지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설명하십시오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맑은 고딕"/>
              </a:rPr>
            </a:br>
            <a:endParaRPr sz="1700" b="0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맑은 고딕"/>
              </a:rPr>
              <a:t>■  3.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선언과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구현이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일치할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br>
              <a:rPr lang="en-US" sz="1700" b="0" dirty="0">
                <a:solidFill>
                  <a:srgbClr val="222222"/>
                </a:solidFill>
                <a:latin typeface="맑은 고딕"/>
              </a:rPr>
            </a:br>
            <a:r>
              <a:rPr lang="en-US" sz="1700" b="0" dirty="0">
                <a:solidFill>
                  <a:srgbClr val="222222"/>
                </a:solidFill>
                <a:latin typeface="맑은 고딕"/>
              </a:rPr>
              <a:t>        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“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Augmentation을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만들었다”고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선언했으면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실제로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사람의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판단을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강화하는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구조여야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합니다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맑은 고딕"/>
              </a:rPr>
            </a:br>
            <a:endParaRPr sz="1700" b="0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맑은 고딕"/>
              </a:rPr>
              <a:t>■  4. </a:t>
            </a:r>
            <a:r>
              <a:rPr lang="ko-KR" altLang="en-US" sz="1700" b="1" dirty="0">
                <a:solidFill>
                  <a:srgbClr val="222222"/>
                </a:solidFill>
                <a:latin typeface="맑은 고딕"/>
              </a:rPr>
              <a:t>식별</a:t>
            </a:r>
            <a:r>
              <a:rPr lang="en-US" altLang="ko-KR" sz="1700" b="1" dirty="0">
                <a:solidFill>
                  <a:srgbClr val="222222"/>
                </a:solidFill>
                <a:latin typeface="맑은 고딕"/>
              </a:rPr>
              <a:t>, </a:t>
            </a:r>
            <a:r>
              <a:rPr lang="ko-KR" altLang="en-US" sz="1700" b="1" dirty="0">
                <a:solidFill>
                  <a:srgbClr val="222222"/>
                </a:solidFill>
                <a:latin typeface="맑은 고딕"/>
              </a:rPr>
              <a:t>정의한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문제를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해결할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문제-솔루션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적합성이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핵심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평가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항목입니다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맑은 고딕"/>
              </a:rPr>
            </a:br>
            <a:endParaRPr sz="1700" b="0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맑은 고딕"/>
              </a:rPr>
              <a:t>■  5.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제공된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Data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Pack을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입력으로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쓸 것.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외부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데이터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수집은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불필요합니다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맑은 고딕"/>
              </a:rPr>
            </a:br>
            <a:endParaRPr sz="1700" b="0" dirty="0">
              <a:solidFill>
                <a:srgbClr val="222222"/>
              </a:solidFill>
              <a:latin typeface="맑은 고딕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맑은 고딕"/>
              </a:rPr>
              <a:t>■  6.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데이터의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한계를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맑은 고딕"/>
              </a:rPr>
              <a:t>인식할</a:t>
            </a:r>
            <a:r>
              <a:rPr sz="1700" b="1" dirty="0">
                <a:solidFill>
                  <a:srgbClr val="222222"/>
                </a:solidFill>
                <a:latin typeface="맑은 고딕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오탐·과신·데이터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품질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리스크를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어떻게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다루는지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맑은 고딕"/>
              </a:rPr>
              <a:t>밝히십시오</a:t>
            </a:r>
            <a:r>
              <a:rPr sz="1700" b="0" dirty="0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02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5835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맑은 고딕"/>
              </a:rPr>
              <a:t>POC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범위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가드레일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— 1일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안에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완주하기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위한</a:t>
            </a:r>
            <a:r>
              <a:rPr sz="26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맑은 고딕"/>
              </a:rPr>
              <a:t>제약</a:t>
            </a:r>
            <a:endParaRPr sz="2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§4-2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637555"/>
              </p:ext>
            </p:extLst>
          </p:nvPr>
        </p:nvGraphicFramePr>
        <p:xfrm>
          <a:off x="502920" y="1143000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9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제약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맑은 고딕"/>
                        </a:rPr>
                        <a:t>기준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단 하나의 의사결정 문제를 해결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입력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제공된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Data Pack (CSV / MD)만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사용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화면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또는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1개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리포트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— PM/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스폰서가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보고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판단할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수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있는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산출물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자유 (스프레드시트·스크립트·웹·노코드·사내 LLM 도구 등 무엇이든)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맑은 고딕"/>
                        </a:rPr>
                        <a:t>실제 제공 데이터로 구동. 하드코딩된 가짜 결과는 인정하지 않음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시연</a:t>
                      </a:r>
                      <a:endParaRPr sz="16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발표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중 </a:t>
                      </a:r>
                      <a:r>
                        <a:rPr lang="en-US"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분 내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라이브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시연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가능해야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622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맑은 고딕"/>
              </a:rPr>
              <a:t>⚠️ 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이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가드레일을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지키십시오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.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크게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만들면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완성하지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못합니다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.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br>
              <a:rPr lang="en-US" sz="1350" b="0" dirty="0">
                <a:solidFill>
                  <a:srgbClr val="222222"/>
                </a:solidFill>
                <a:latin typeface="맑은 고딕"/>
              </a:rPr>
            </a:br>
            <a:r>
              <a:rPr lang="en-US" sz="1350" b="0" dirty="0">
                <a:solidFill>
                  <a:srgbClr val="222222"/>
                </a:solidFill>
                <a:latin typeface="맑은 고딕"/>
              </a:rPr>
              <a:t>    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평가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대상은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POC의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규모나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완성도가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아니라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,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문제-솔루션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적합성과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유형</a:t>
            </a:r>
            <a:r>
              <a:rPr sz="1350" b="1" dirty="0">
                <a:solidFill>
                  <a:srgbClr val="222222"/>
                </a:solidFill>
                <a:latin typeface="맑은 고딕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맑은 고딕"/>
              </a:rPr>
              <a:t>일치성</a:t>
            </a:r>
            <a:r>
              <a:rPr sz="1350" b="0" dirty="0" err="1">
                <a:solidFill>
                  <a:srgbClr val="222222"/>
                </a:solidFill>
                <a:latin typeface="맑은 고딕"/>
              </a:rPr>
              <a:t>입니다</a:t>
            </a:r>
            <a:r>
              <a:rPr sz="1350" b="0" dirty="0">
                <a:solidFill>
                  <a:srgbClr val="222222"/>
                </a:solidFill>
                <a:latin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03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5835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평가항목</a:t>
            </a:r>
            <a:endParaRPr sz="2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04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9043ECE-3FEF-D7C7-26E4-C5D6772E6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02" y="1006300"/>
            <a:ext cx="9433869" cy="53325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A72F-0DF8-F0E3-E5EA-8AC8A2B6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691B60-CEA7-BD2C-8AC7-624AADF94596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7F246-2F1E-C8C3-2277-421FF62161CA}"/>
              </a:ext>
            </a:extLst>
          </p:cNvPr>
          <p:cNvSpPr txBox="1"/>
          <p:nvPr/>
        </p:nvSpPr>
        <p:spPr>
          <a:xfrm>
            <a:off x="502920" y="73152"/>
            <a:ext cx="2815835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F6D35-A555-7FDD-4DB3-C472ADA58788}"/>
              </a:ext>
            </a:extLst>
          </p:cNvPr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lang="ko-KR" altLang="en-US" sz="2600" b="1" dirty="0">
                <a:solidFill>
                  <a:srgbClr val="FFFFFF"/>
                </a:solidFill>
                <a:latin typeface="맑은 고딕"/>
              </a:rPr>
              <a:t>평가기준</a:t>
            </a:r>
            <a:endParaRPr sz="26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81547-C80A-3F7F-B195-BD9DD53C1ECD}"/>
              </a:ext>
            </a:extLst>
          </p:cNvPr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2C4ED-2226-693C-CB8D-0DD6111E5EBF}"/>
              </a:ext>
            </a:extLst>
          </p:cNvPr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05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1072E-BCE9-AB40-3ACA-F5AD182292ED}"/>
              </a:ext>
            </a:extLst>
          </p:cNvPr>
          <p:cNvSpPr txBox="1"/>
          <p:nvPr/>
        </p:nvSpPr>
        <p:spPr>
          <a:xfrm>
            <a:off x="655782" y="1351255"/>
            <a:ext cx="11074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프로젝트의 이상징후를 정확히 식별하고</a:t>
            </a:r>
            <a:r>
              <a:rPr lang="en-US" altLang="ko-KR" dirty="0"/>
              <a:t>, PMBOK 8</a:t>
            </a:r>
            <a:r>
              <a:rPr lang="ko-KR" altLang="en-US" dirty="0"/>
              <a:t>의 </a:t>
            </a:r>
            <a:r>
              <a:rPr lang="en-US" altLang="ko-KR" dirty="0"/>
              <a:t>3</a:t>
            </a:r>
            <a:r>
              <a:rPr lang="ko-KR" altLang="en-US" dirty="0"/>
              <a:t>개 관점</a:t>
            </a:r>
            <a:r>
              <a:rPr lang="en-US" altLang="ko-KR" dirty="0"/>
              <a:t>(Mindset, Performance Domain, AI Use Case)</a:t>
            </a:r>
            <a:r>
              <a:rPr lang="ko-KR" altLang="en-US" dirty="0"/>
              <a:t>을 종합적으로 연결하여 문제를 해석하고 근본원인을 분석하였는가</a:t>
            </a:r>
            <a:r>
              <a:rPr lang="en-US" altLang="ko-KR" dirty="0"/>
              <a:t>?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근본원인을 해결하기 위한 </a:t>
            </a:r>
            <a:r>
              <a:rPr lang="en-US" altLang="ko-KR" dirty="0"/>
              <a:t>Value-Driven AI Agent </a:t>
            </a:r>
            <a:r>
              <a:rPr lang="ko-KR" altLang="en-US" dirty="0"/>
              <a:t>개선안을 논리적으로 설계하였는가</a:t>
            </a:r>
            <a:r>
              <a:rPr lang="en-US" altLang="ko-KR" dirty="0"/>
              <a:t>? 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이를 실제 동작 가능한 </a:t>
            </a:r>
            <a:r>
              <a:rPr lang="en-US" altLang="ko-KR" dirty="0"/>
              <a:t>POC</a:t>
            </a:r>
            <a:r>
              <a:rPr lang="ko-KR" altLang="en-US" dirty="0"/>
              <a:t>로 구현하고</a:t>
            </a:r>
            <a:r>
              <a:rPr lang="en-US" altLang="ko-KR" dirty="0"/>
              <a:t>, </a:t>
            </a:r>
            <a:r>
              <a:rPr lang="ko-KR" altLang="en-US" dirty="0"/>
              <a:t>기대효과와 현업 적용 가능성을 객관적으로 검증하였는가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5940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5835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산출물 및 제출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80537"/>
              </p:ext>
            </p:extLst>
          </p:nvPr>
        </p:nvGraphicFramePr>
        <p:xfrm>
          <a:off x="502920" y="1143000"/>
          <a:ext cx="112014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발표 자료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PPT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문서로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표지에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팀명·팀원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명기</a:t>
                      </a:r>
                      <a:endParaRPr sz="17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POC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실행 가능한 형태 (코드·파일·URL·노트북 등) + 실행 방법 1페이지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제출처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DL-lgswpmc-2026@lge.com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마감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본선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1일차 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17:30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분까지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이후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수정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불가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—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발표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버전으로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확정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06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5835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맑은 고딕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맑은 고딕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맑은 고딕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맑은 고딕"/>
              </a:rPr>
              <a:t>0826</a:t>
            </a:r>
            <a:endParaRPr sz="1300" b="1" dirty="0">
              <a:solidFill>
                <a:srgbClr val="C9D3E8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56692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914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9D3E8"/>
                </a:solidFill>
                <a:latin typeface="맑은 고딕"/>
              </a:rPr>
              <a:t>§7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640504"/>
              </p:ext>
            </p:extLst>
          </p:nvPr>
        </p:nvGraphicFramePr>
        <p:xfrm>
          <a:off x="502920" y="1143000"/>
          <a:ext cx="11201400" cy="2366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발표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시간</a:t>
                      </a:r>
                      <a:endParaRPr sz="17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7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총 </a:t>
                      </a: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25</a:t>
                      </a:r>
                      <a:r>
                        <a:rPr sz="17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분</a:t>
                      </a:r>
                    </a:p>
                  </a:txBody>
                  <a:tcPr marL="73152" marR="54864" marT="18288" marB="1828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703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POC 시연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발표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2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분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내에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포함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(5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분 내외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질의응답</a:t>
                      </a:r>
                      <a:endParaRPr sz="17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  <a:r>
                        <a:rPr sz="1700" b="1" dirty="0">
                          <a:solidFill>
                            <a:srgbClr val="222222"/>
                          </a:solidFill>
                          <a:latin typeface="맑은 고딕"/>
                        </a:rPr>
                        <a:t>분 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· 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사외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심사위원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3인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사내 심사위원 </a:t>
                      </a:r>
                      <a:r>
                        <a:rPr lang="en-US" altLang="ko-KR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인</a:t>
                      </a:r>
                      <a:endParaRPr sz="17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맑은 고딕"/>
                        </a:rPr>
                        <a:t>일시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본선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2일차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49039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>
                <a:solidFill>
                  <a:srgbClr val="222222"/>
                </a:solidFill>
                <a:latin typeface="맑은 고딕"/>
              </a:rPr>
              <a:t>■ 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질의응답 안내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 — 준비된 대본보다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실제 이해에 기반한 답변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을 높게 평가합니다. 모르는 것은 모른다고 인정하고 논리적으로 대응하는 편이, 억지로 답을 만드는 것보다 </a:t>
            </a:r>
            <a:r>
              <a:rPr sz="1350" b="1">
                <a:solidFill>
                  <a:srgbClr val="222222"/>
                </a:solidFill>
                <a:latin typeface="맑은 고딕"/>
              </a:rPr>
              <a:t>더 높은 점수</a:t>
            </a:r>
            <a:r>
              <a:rPr sz="1350" b="0">
                <a:solidFill>
                  <a:srgbClr val="222222"/>
                </a:solidFill>
                <a:latin typeface="맑은 고딕"/>
              </a:rPr>
              <a:t>를 받습니다.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맑은 고딕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본선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맑은 고딕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맑은 고딕"/>
              </a:rPr>
              <a:t>0826</a:t>
            </a:r>
            <a:r>
              <a:rPr sz="900" dirty="0">
                <a:solidFill>
                  <a:srgbClr val="5A5A5A"/>
                </a:solidFill>
                <a:latin typeface="맑은 고딕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맑은 고딕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맑은 고딕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맑은 고딕"/>
              </a:rPr>
              <a:t>07</a:t>
            </a:r>
            <a:endParaRPr sz="900" b="1" dirty="0">
              <a:solidFill>
                <a:srgbClr val="5A5A5A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4654</Words>
  <Application>Microsoft Office PowerPoint</Application>
  <PresentationFormat>와이드스크린</PresentationFormat>
  <Paragraphs>680</Paragraphs>
  <Slides>36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3" baseType="lpstr">
      <vt:lpstr>-apple-system</vt:lpstr>
      <vt:lpstr>LG스마트체 Regular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진명숙/책임/SW공학(연)SW역량강화팀</dc:creator>
  <cp:keywords/>
  <dc:description>generated using python-pptx</dc:description>
  <cp:lastModifiedBy>진명숙/책임/SW공학(연)SW역량강화팀</cp:lastModifiedBy>
  <cp:revision>24</cp:revision>
  <dcterms:created xsi:type="dcterms:W3CDTF">2013-01-27T09:14:16Z</dcterms:created>
  <dcterms:modified xsi:type="dcterms:W3CDTF">2026-08-19T06:17:47Z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